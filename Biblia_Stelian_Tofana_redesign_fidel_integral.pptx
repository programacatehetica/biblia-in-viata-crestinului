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01</a:t>
            </a:r>
          </a:p>
        </p:txBody>
      </p:sp>
      <p:sp>
        <p:nvSpPr>
          <p:cNvPr id="9" name="TextBox 8"/>
          <p:cNvSpPr txBox="1"/>
          <p:nvPr/>
        </p:nvSpPr>
        <p:spPr>
          <a:xfrm>
            <a:off x="960120" y="1234440"/>
            <a:ext cx="9966960" cy="914400"/>
          </a:xfrm>
          <a:prstGeom prst="rect">
            <a:avLst/>
          </a:prstGeom>
          <a:noFill/>
        </p:spPr>
        <p:txBody>
          <a:bodyPr wrap="square" lIns="73152" rIns="73152" tIns="36576">
            <a:spAutoFit/>
          </a:bodyPr>
          <a:lstStyle/>
          <a:p>
            <a:pPr>
              <a:spcAft>
                <a:spcPts val="200"/>
              </a:spcAft>
              <a:defRPr sz="3700" b="1">
                <a:solidFill>
                  <a:srgbClr val="23303A"/>
                </a:solidFill>
                <a:latin typeface="Georgia"/>
              </a:defRPr>
            </a:pPr>
            <a:r>
              <a:t>Să citim și să învățăm Biblia!</a:t>
            </a:r>
          </a:p>
        </p:txBody>
      </p:sp>
      <p:sp>
        <p:nvSpPr>
          <p:cNvPr id="10" name="TextBox 9"/>
          <p:cNvSpPr txBox="1"/>
          <p:nvPr/>
        </p:nvSpPr>
        <p:spPr>
          <a:xfrm>
            <a:off x="978408" y="2606040"/>
            <a:ext cx="9875520" cy="1143000"/>
          </a:xfrm>
          <a:prstGeom prst="rect">
            <a:avLst/>
          </a:prstGeom>
          <a:noFill/>
        </p:spPr>
        <p:txBody>
          <a:bodyPr wrap="square" lIns="73152" rIns="73152" tIns="36576">
            <a:spAutoFit/>
          </a:bodyPr>
          <a:lstStyle/>
          <a:p>
            <a:pPr>
              <a:spcAft>
                <a:spcPts val="200"/>
              </a:spcAft>
              <a:defRPr sz="2900" b="0">
                <a:solidFill>
                  <a:srgbClr val="23303A"/>
                </a:solidFill>
                <a:latin typeface="Georgia"/>
              </a:defRPr>
            </a:pPr>
            <a:r>
              <a:t>Ce este Biblia?</a:t>
            </a:r>
          </a:p>
          <a:p>
            <a:pPr>
              <a:spcAft>
                <a:spcPts val="200"/>
              </a:spcAft>
              <a:defRPr sz="2900" b="0">
                <a:solidFill>
                  <a:srgbClr val="23303A"/>
                </a:solidFill>
                <a:latin typeface="Georgia"/>
              </a:defRPr>
            </a:pPr>
            <a:r>
              <a:t>De ce trebuie să o citim?</a:t>
            </a:r>
          </a:p>
        </p:txBody>
      </p:sp>
      <p:sp>
        <p:nvSpPr>
          <p:cNvPr id="11" name="Rectangle 10"/>
          <p:cNvSpPr/>
          <p:nvPr/>
        </p:nvSpPr>
        <p:spPr>
          <a:xfrm>
            <a:off x="1024128" y="4005072"/>
            <a:ext cx="9921240" cy="201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97680"/>
            <a:ext cx="9784080" cy="411480"/>
          </a:xfrm>
          <a:prstGeom prst="rect">
            <a:avLst/>
          </a:prstGeom>
          <a:noFill/>
        </p:spPr>
        <p:txBody>
          <a:bodyPr wrap="square" lIns="73152" rIns="73152" tIns="36576">
            <a:spAutoFit/>
          </a:bodyPr>
          <a:lstStyle/>
          <a:p>
            <a:pPr>
              <a:spcAft>
                <a:spcPts val="200"/>
              </a:spcAft>
              <a:defRPr sz="2000" b="1">
                <a:solidFill>
                  <a:srgbClr val="9D7846"/>
                </a:solidFill>
                <a:latin typeface="Aptos"/>
              </a:defRPr>
            </a:pPr>
            <a:r>
              <a:t>Pr. Stelian TOFANĂ</a:t>
            </a:r>
          </a:p>
        </p:txBody>
      </p:sp>
      <p:sp>
        <p:nvSpPr>
          <p:cNvPr id="13" name="TextBox 12"/>
          <p:cNvSpPr txBox="1"/>
          <p:nvPr/>
        </p:nvSpPr>
        <p:spPr>
          <a:xfrm>
            <a:off x="1005840" y="4892040"/>
            <a:ext cx="9784080" cy="822960"/>
          </a:xfrm>
          <a:prstGeom prst="rect">
            <a:avLst/>
          </a:prstGeom>
          <a:noFill/>
        </p:spPr>
        <p:txBody>
          <a:bodyPr wrap="square" lIns="73152" rIns="73152" tIns="36576">
            <a:spAutoFit/>
          </a:bodyPr>
          <a:lstStyle/>
          <a:p>
            <a:pPr>
              <a:spcAft>
                <a:spcPts val="200"/>
              </a:spcAft>
              <a:defRPr sz="1600" b="0">
                <a:solidFill>
                  <a:srgbClr val="686D6C"/>
                </a:solidFill>
                <a:latin typeface="Aptos"/>
              </a:defRPr>
            </a:pPr>
            <a:r>
              <a:t>Program Biblic</a:t>
            </a:r>
          </a:p>
          <a:p>
            <a:pPr>
              <a:spcAft>
                <a:spcPts val="200"/>
              </a:spcAft>
              <a:defRPr sz="1600" b="0">
                <a:solidFill>
                  <a:srgbClr val="686D6C"/>
                </a:solidFill>
                <a:latin typeface="Aptos"/>
              </a:defRPr>
            </a:pPr>
            <a:r>
              <a:t>Biserica Ortodoxă</a:t>
            </a:r>
          </a:p>
          <a:p>
            <a:pPr>
              <a:spcAft>
                <a:spcPts val="200"/>
              </a:spcAft>
              <a:defRPr sz="1600" b="0">
                <a:solidFill>
                  <a:srgbClr val="686D6C"/>
                </a:solidFill>
                <a:latin typeface="Aptos"/>
              </a:defRPr>
            </a:pPr>
            <a:r>
              <a: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02</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Cuprins</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900" b="0">
                <a:solidFill>
                  <a:srgbClr val="23303A"/>
                </a:solidFill>
                <a:latin typeface="Aptos"/>
              </a:defRPr>
            </a:pPr>
            <a:r>
              <a:t>	Cuprins</a:t>
            </a:r>
          </a:p>
          <a:p>
            <a:pPr>
              <a:spcAft>
                <a:spcPts val="200"/>
              </a:spcAft>
              <a:defRPr sz="1900" b="0">
                <a:solidFill>
                  <a:srgbClr val="23303A"/>
                </a:solidFill>
                <a:latin typeface="Aptos"/>
              </a:defRPr>
            </a:pPr>
            <a:r>
              <a:t>	1. Ce este Biblia?</a:t>
            </a:r>
          </a:p>
          <a:p>
            <a:pPr>
              <a:spcAft>
                <a:spcPts val="200"/>
              </a:spcAft>
              <a:defRPr sz="1900" b="0">
                <a:solidFill>
                  <a:srgbClr val="23303A"/>
                </a:solidFill>
                <a:latin typeface="Aptos"/>
              </a:defRPr>
            </a:pPr>
            <a:r>
              <a:t>		a – ”Biblioteca lui Dumnezeu”</a:t>
            </a:r>
          </a:p>
          <a:p>
            <a:pPr>
              <a:spcAft>
                <a:spcPts val="200"/>
              </a:spcAft>
              <a:defRPr sz="1900" b="0">
                <a:solidFill>
                  <a:srgbClr val="23303A"/>
                </a:solidFill>
                <a:latin typeface="Aptos"/>
              </a:defRPr>
            </a:pPr>
            <a:r>
              <a:t>		b – Cuvântul lui Dumnezeu</a:t>
            </a:r>
          </a:p>
          <a:p>
            <a:pPr>
              <a:spcAft>
                <a:spcPts val="200"/>
              </a:spcAft>
              <a:defRPr sz="1900" b="0">
                <a:solidFill>
                  <a:srgbClr val="23303A"/>
                </a:solidFill>
                <a:latin typeface="Aptos"/>
              </a:defRPr>
            </a:pPr>
            <a:r>
              <a:t>		c – Vorbirea lui Dumnezeu către lume</a:t>
            </a:r>
          </a:p>
          <a:p>
            <a:pPr>
              <a:spcAft>
                <a:spcPts val="200"/>
              </a:spcAft>
              <a:defRPr sz="1900" b="0">
                <a:solidFill>
                  <a:srgbClr val="23303A"/>
                </a:solidFill>
                <a:latin typeface="Aptos"/>
              </a:defRPr>
            </a:pPr>
            <a:r>
              <a:t>	2. Biblia – adevăr sau mit?</a:t>
            </a:r>
          </a:p>
          <a:p>
            <a:pPr>
              <a:spcAft>
                <a:spcPts val="200"/>
              </a:spcAft>
              <a:defRPr sz="1900" b="0">
                <a:solidFill>
                  <a:srgbClr val="23303A"/>
                </a:solidFill>
                <a:latin typeface="Aptos"/>
              </a:defRPr>
            </a:pPr>
            <a:r>
              <a:t>	4. Cuvântul lui Dumnezeu și societatea modernă</a:t>
            </a:r>
          </a:p>
          <a:p>
            <a:pPr>
              <a:spcAft>
                <a:spcPts val="200"/>
              </a:spcAft>
              <a:defRPr sz="1900" b="0">
                <a:solidFill>
                  <a:srgbClr val="23303A"/>
                </a:solidFill>
                <a:latin typeface="Aptos"/>
              </a:defRPr>
            </a:pPr>
            <a:r>
              <a:t>		a. paradoxul contemporan</a:t>
            </a:r>
          </a:p>
          <a:p>
            <a:pPr>
              <a:spcAft>
                <a:spcPts val="200"/>
              </a:spcAft>
              <a:defRPr sz="1900" b="0">
                <a:solidFill>
                  <a:srgbClr val="23303A"/>
                </a:solidFill>
                <a:latin typeface="Aptos"/>
              </a:defRPr>
            </a:pPr>
            <a:r>
              <a:t>		b. Cauzele nerodirii cuvântului</a:t>
            </a:r>
          </a:p>
          <a:p>
            <a:pPr>
              <a:spcAft>
                <a:spcPts val="200"/>
              </a:spcAft>
              <a:defRPr sz="1900" b="0">
                <a:solidFill>
                  <a:srgbClr val="23303A"/>
                </a:solidFill>
                <a:latin typeface="Aptos"/>
              </a:defRPr>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03</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1. Ce este Biblia?</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2400" b="0">
                <a:solidFill>
                  <a:srgbClr val="23303A"/>
                </a:solidFill>
                <a:latin typeface="Aptos"/>
              </a:defRPr>
            </a:pPr>
            <a:r>
              <a:t>	1. Ce este Biblia? </a:t>
            </a:r>
          </a:p>
          <a:p>
            <a:pPr>
              <a:spcAft>
                <a:spcPts val="200"/>
              </a:spcAft>
              <a:defRPr sz="2400" b="0">
                <a:solidFill>
                  <a:srgbClr val="23303A"/>
                </a:solidFill>
                <a:latin typeface="Aptos"/>
              </a:defRPr>
            </a:pPr>
          </a:p>
          <a:p>
            <a:pPr>
              <a:spcAft>
                <a:spcPts val="200"/>
              </a:spcAft>
              <a:defRPr sz="2400" b="0">
                <a:solidFill>
                  <a:srgbClr val="23303A"/>
                </a:solidFill>
                <a:latin typeface="Aptos"/>
              </a:defRPr>
            </a:pPr>
            <a:r>
              <a:t>		a. ”Biblioteca” - t¦ B…blia = pl – cărțile </a:t>
            </a:r>
          </a:p>
          <a:p>
            <a:pPr>
              <a:spcAft>
                <a:spcPts val="200"/>
              </a:spcAft>
              <a:defRPr sz="2400" b="0">
                <a:solidFill>
                  <a:srgbClr val="23303A"/>
                </a:solidFill>
                <a:latin typeface="Aptos"/>
              </a:defRPr>
            </a:pPr>
          </a:p>
          <a:p>
            <a:pPr>
              <a:spcAft>
                <a:spcPts val="200"/>
              </a:spcAft>
              <a:defRPr sz="2400" b="0">
                <a:solidFill>
                  <a:srgbClr val="23303A"/>
                </a:solidFill>
                <a:latin typeface="Aptos"/>
              </a:defRPr>
            </a:pPr>
            <a:r>
              <a:t>			Biblioteca lui Dumnezeu</a:t>
            </a:r>
          </a:p>
          <a:p>
            <a:pPr>
              <a:spcAft>
                <a:spcPts val="200"/>
              </a:spcAft>
              <a:defRPr sz="2400" b="0">
                <a:solidFill>
                  <a:srgbClr val="23303A"/>
                </a:solidFill>
                <a:latin typeface="Aptos"/>
              </a:defRPr>
            </a:pPr>
          </a:p>
          <a:p>
            <a:pPr>
              <a:spcAft>
                <a:spcPts val="200"/>
              </a:spcAft>
              <a:defRPr sz="2400" b="0">
                <a:solidFill>
                  <a:srgbClr val="23303A"/>
                </a:solidFill>
                <a:latin typeface="Aptos"/>
              </a:defRPr>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04</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b. Cuvântul lui Dumnezeu</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800" b="0">
                <a:solidFill>
                  <a:srgbClr val="23303A"/>
                </a:solidFill>
                <a:latin typeface="Aptos"/>
              </a:defRPr>
            </a:pPr>
            <a:r>
              <a:t>	b. Cuvântul lui Dumnezeu</a:t>
            </a:r>
          </a:p>
          <a:p>
            <a:pPr>
              <a:spcAft>
                <a:spcPts val="200"/>
              </a:spcAft>
              <a:defRPr sz="1800" b="0">
                <a:solidFill>
                  <a:srgbClr val="23303A"/>
                </a:solidFill>
                <a:latin typeface="Aptos"/>
              </a:defRPr>
            </a:pPr>
            <a:r>
              <a:t>	</a:t>
            </a:r>
          </a:p>
          <a:p>
            <a:pPr>
              <a:spcAft>
                <a:spcPts val="200"/>
              </a:spcAft>
              <a:defRPr sz="1800" b="0">
                <a:solidFill>
                  <a:srgbClr val="23303A"/>
                </a:solidFill>
                <a:latin typeface="Aptos"/>
              </a:defRPr>
            </a:pPr>
            <a:r>
              <a:t>	”Puneți în inima voastră toate cuvintele pe care eu vi le-am spus astăzi și să le lăsați moștenire copiilor voștri, ca să se silească și ei a împlini toate poruncile legii acesteia. </a:t>
            </a:r>
          </a:p>
          <a:p>
            <a:pPr>
              <a:spcAft>
                <a:spcPts val="200"/>
              </a:spcAft>
              <a:defRPr sz="1800" b="0">
                <a:solidFill>
                  <a:srgbClr val="23303A"/>
                </a:solidFill>
                <a:latin typeface="Aptos"/>
              </a:defRPr>
            </a:pPr>
            <a:r>
              <a:t>	Căci acestea nu sunt vorbe goale, ci sunt viața voastră și prin acestea vă veți îndelunga zilele (veți trăi ani mulți)” (Deut. 32,46-47)</a:t>
            </a:r>
          </a:p>
          <a:p>
            <a:pPr>
              <a:spcAft>
                <a:spcPts val="200"/>
              </a:spcAft>
              <a:defRPr sz="1800" b="0">
                <a:solidFill>
                  <a:srgbClr val="23303A"/>
                </a:solidFill>
                <a:latin typeface="Aptos"/>
              </a:defRPr>
            </a:pPr>
            <a:r>
              <a:t>	</a:t>
            </a:r>
          </a:p>
          <a:p>
            <a:pPr>
              <a:spcAft>
                <a:spcPts val="200"/>
              </a:spcAft>
              <a:defRPr sz="1800" b="0">
                <a:solidFill>
                  <a:srgbClr val="23303A"/>
                </a:solidFill>
                <a:latin typeface="Aptos"/>
              </a:defRPr>
            </a:pPr>
            <a:r>
              <a:t>	”Cuvintele pe care Eu vi le-am grăit sunt duh și sunt viață” (In 6,63)</a:t>
            </a:r>
          </a:p>
          <a:p>
            <a:pPr>
              <a:spcAft>
                <a:spcPts val="200"/>
              </a:spcAft>
              <a:defRPr sz="1800" b="0">
                <a:solidFill>
                  <a:srgbClr val="23303A"/>
                </a:solidFill>
                <a:latin typeface="Aptos"/>
              </a:defRPr>
            </a:pPr>
            <a:r>
              <a:t>	</a:t>
            </a:r>
          </a:p>
          <a:p>
            <a:pPr>
              <a:spcAft>
                <a:spcPts val="200"/>
              </a:spcAft>
              <a:defRPr sz="1800" b="0">
                <a:solidFill>
                  <a:srgbClr val="23303A"/>
                </a:solidFill>
                <a:latin typeface="Aptos"/>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05</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Psalmul 118</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700" b="0">
                <a:solidFill>
                  <a:srgbClr val="23303A"/>
                </a:solidFill>
                <a:latin typeface="Aptos"/>
              </a:defRPr>
            </a:pPr>
            <a:r>
              <a:t>Cea mai impresionantă mărturisire despre importanţa cuvântului lui Dumnezeu, pentru viaţa omenească, este Psalmul 118:</a:t>
            </a:r>
          </a:p>
          <a:p>
            <a:pPr>
              <a:spcAft>
                <a:spcPts val="200"/>
              </a:spcAft>
              <a:defRPr sz="1700" b="0">
                <a:solidFill>
                  <a:srgbClr val="23303A"/>
                </a:solidFill>
                <a:latin typeface="Aptos"/>
              </a:defRPr>
            </a:pPr>
            <a:r>
              <a:t>	</a:t>
            </a:r>
          </a:p>
          <a:p>
            <a:pPr>
              <a:spcAft>
                <a:spcPts val="200"/>
              </a:spcAft>
              <a:defRPr sz="1700" b="0">
                <a:solidFill>
                  <a:srgbClr val="23303A"/>
                </a:solidFill>
                <a:latin typeface="Aptos"/>
              </a:defRPr>
            </a:pPr>
            <a:r>
              <a:t>	”Se topeşte sufletul meu după cuvântul Tău... Acesta m-a mângăiat  întru necazul meu, pentru că cuvântul Tău m-a făcut viu... Cuvintele gurii Tale sunt mai de preţ decât mii de comori de aur şi de argint... De n-ar fi fost legea Ta gândirea mea, atunci aş fi pierit întru necazul meu... Făclie picioarelor mele sunt cuvintele Tale şi lumină cărărilor mele...” ( Ps. 118, 72. 92. 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06</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c. Vorbirea lui Dumnezeu către lume</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700" b="0">
                <a:solidFill>
                  <a:srgbClr val="23303A"/>
                </a:solidFill>
                <a:latin typeface="Aptos"/>
              </a:defRPr>
            </a:pPr>
            <a:r>
              <a:t>	c. Vorbirea lui Dumnezeu către lume </a:t>
            </a:r>
          </a:p>
          <a:p>
            <a:pPr>
              <a:spcAft>
                <a:spcPts val="200"/>
              </a:spcAft>
              <a:defRPr sz="1700" b="0">
                <a:solidFill>
                  <a:srgbClr val="23303A"/>
                </a:solidFill>
                <a:latin typeface="Aptos"/>
              </a:defRPr>
            </a:pPr>
          </a:p>
          <a:p>
            <a:pPr>
              <a:spcAft>
                <a:spcPts val="200"/>
              </a:spcAft>
              <a:defRPr sz="1700" b="0">
                <a:solidFill>
                  <a:srgbClr val="23303A"/>
                </a:solidFill>
                <a:latin typeface="Aptos"/>
              </a:defRPr>
            </a:pPr>
            <a:r>
              <a:t>	“După ce Dumnezeu odinioară (p£lai), în multe rânduri şi în multe chipuri (polumerîj kaˆ polutrÒpwj) a vorbit părinţilor noştri prin prooroci, în zilele acestea mai de pe urmă (™p ™sc¦ton tîn ¹merîn ) ne-a grăit - ἐλάλησεν (Heb 1:1 BYZ) (ne vorbește) nouă (¹m‹n ) prin Fiul (™n uiù)” (Evr 1,1).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07</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2. Biblia – adevăr sau mit?</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700" b="0">
                <a:solidFill>
                  <a:srgbClr val="23303A"/>
                </a:solidFill>
                <a:latin typeface="Aptos"/>
              </a:defRPr>
            </a:pPr>
            <a:r>
              <a:t>	2. Biblia – adevăr sau mit?</a:t>
            </a:r>
          </a:p>
          <a:p>
            <a:pPr>
              <a:spcAft>
                <a:spcPts val="200"/>
              </a:spcAft>
              <a:defRPr sz="1700" b="0">
                <a:solidFill>
                  <a:srgbClr val="23303A"/>
                </a:solidFill>
                <a:latin typeface="Aptos"/>
              </a:defRPr>
            </a:pPr>
            <a:r>
              <a:t> 	</a:t>
            </a:r>
          </a:p>
          <a:p>
            <a:pPr>
              <a:spcAft>
                <a:spcPts val="200"/>
              </a:spcAft>
              <a:defRPr sz="1700" b="0">
                <a:solidFill>
                  <a:srgbClr val="23303A"/>
                </a:solidFill>
                <a:latin typeface="Aptos"/>
              </a:defRPr>
            </a:pPr>
            <a:r>
              <a:t>	- O credinţă ca cea a primelor generaţii creştine, care implica o loialitate absolută, chiar cu preţul vieţii, faţă de Mântuitorul Iisus Hristos, nu se putea baza decât pe adevăr şi pe incontestabilitatea faptelor descrise, şi nu pe legende sau date inventate</a:t>
            </a:r>
          </a:p>
          <a:p>
            <a:pPr>
              <a:spcAft>
                <a:spcPts val="200"/>
              </a:spcAft>
              <a:defRPr sz="1700" b="0">
                <a:solidFill>
                  <a:srgbClr val="23303A"/>
                </a:solidFill>
                <a:latin typeface="Aptos"/>
              </a:defRPr>
            </a:pPr>
            <a:r>
              <a:t>		</a:t>
            </a:r>
          </a:p>
          <a:p>
            <a:pPr>
              <a:spcAft>
                <a:spcPts val="200"/>
              </a:spcAft>
              <a:defRPr sz="1700" b="0">
                <a:solidFill>
                  <a:srgbClr val="23303A"/>
                </a:solidFill>
                <a:latin typeface="Aptos"/>
              </a:defRPr>
            </a:pPr>
            <a:r>
              <a:t>	- jertfele martirilor</a:t>
            </a:r>
          </a:p>
          <a:p>
            <a:pPr>
              <a:spcAft>
                <a:spcPts val="200"/>
              </a:spcAft>
              <a:defRPr sz="1700" b="0">
                <a:solidFill>
                  <a:srgbClr val="23303A"/>
                </a:solidFill>
                <a:latin typeface="Aptos"/>
              </a:defRPr>
            </a:pPr>
            <a:r>
              <a:t>		</a:t>
            </a:r>
          </a:p>
          <a:p>
            <a:pPr>
              <a:spcAft>
                <a:spcPts val="200"/>
              </a:spcAft>
              <a:defRPr sz="1700" b="0">
                <a:solidFill>
                  <a:srgbClr val="23303A"/>
                </a:solidFill>
                <a:latin typeface="Aptos"/>
              </a:defRPr>
            </a:pPr>
            <a:r>
              <a:t>	- Biserica până azi – la bază cuvântul Scripturii</a:t>
            </a:r>
          </a:p>
          <a:p>
            <a:pPr>
              <a:spcAft>
                <a:spcPts val="200"/>
              </a:spcAft>
              <a:defRPr sz="1700" b="0">
                <a:solidFill>
                  <a:srgbClr val="23303A"/>
                </a:solidFill>
                <a:latin typeface="Aptos"/>
              </a:defRPr>
            </a:pPr>
            <a:r>
              <a:t>		</a:t>
            </a:r>
          </a:p>
          <a:p>
            <a:pPr>
              <a:spcAft>
                <a:spcPts val="200"/>
              </a:spcAft>
              <a:defRPr sz="1700" b="0">
                <a:solidFill>
                  <a:srgbClr val="23303A"/>
                </a:solidFill>
                <a:latin typeface="Aptos"/>
              </a:defRPr>
            </a:pPr>
            <a:r>
              <a:t>	- Biblia cea mai citită și tradusă carte din lume</a:t>
            </a:r>
          </a:p>
          <a:p>
            <a:pPr>
              <a:spcAft>
                <a:spcPts val="200"/>
              </a:spcAft>
              <a:defRPr sz="1700" b="0">
                <a:solidFill>
                  <a:srgbClr val="23303A"/>
                </a:solidFill>
                <a:latin typeface="Aptos"/>
              </a:defRPr>
            </a:pPr>
            <a:r>
              <a:t>			- tradusă în peste 1300 limbi </a:t>
            </a:r>
          </a:p>
          <a:p>
            <a:pPr>
              <a:spcAft>
                <a:spcPts val="200"/>
              </a:spcAft>
              <a:defRPr sz="1700" b="0">
                <a:solidFill>
                  <a:srgbClr val="23303A"/>
                </a:solidFill>
                <a:latin typeface="Aptos"/>
              </a:defRPr>
            </a:pPr>
            <a:r>
              <a:t>			- 2025 – peste 4100 traducători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08</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3. Cuvântul lui Dumnezeu și societatea modernă</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900" b="0">
                <a:solidFill>
                  <a:srgbClr val="23303A"/>
                </a:solidFill>
                <a:latin typeface="Aptos"/>
              </a:defRPr>
            </a:pPr>
            <a:r>
              <a:t>	3. Cuvântul lui Dumnezeu și societatea modernă</a:t>
            </a:r>
          </a:p>
          <a:p>
            <a:pPr>
              <a:spcAft>
                <a:spcPts val="200"/>
              </a:spcAft>
              <a:defRPr sz="1900" b="0">
                <a:solidFill>
                  <a:srgbClr val="23303A"/>
                </a:solidFill>
                <a:latin typeface="Aptos"/>
              </a:defRPr>
            </a:pPr>
          </a:p>
          <a:p>
            <a:pPr>
              <a:spcAft>
                <a:spcPts val="200"/>
              </a:spcAft>
              <a:defRPr sz="1900" b="0">
                <a:solidFill>
                  <a:srgbClr val="23303A"/>
                </a:solidFill>
                <a:latin typeface="Aptos"/>
              </a:defRPr>
            </a:pPr>
            <a:r>
              <a:t>		a. Paradoxul contemporan</a:t>
            </a:r>
          </a:p>
          <a:p>
            <a:pPr>
              <a:spcAft>
                <a:spcPts val="200"/>
              </a:spcAft>
              <a:defRPr sz="1900" b="0">
                <a:solidFill>
                  <a:srgbClr val="23303A"/>
                </a:solidFill>
                <a:latin typeface="Aptos"/>
              </a:defRPr>
            </a:pPr>
            <a:r>
              <a:t>	                      cea mai citită carte</a:t>
            </a:r>
          </a:p>
          <a:p>
            <a:pPr>
              <a:spcAft>
                <a:spcPts val="200"/>
              </a:spcAft>
              <a:defRPr sz="1900" b="0">
                <a:solidFill>
                  <a:srgbClr val="23303A"/>
                </a:solidFill>
                <a:latin typeface="Aptos"/>
              </a:defRPr>
            </a:pPr>
            <a:r>
              <a:t>	- Biblia</a:t>
            </a:r>
          </a:p>
          <a:p>
            <a:pPr>
              <a:spcAft>
                <a:spcPts val="200"/>
              </a:spcAft>
              <a:defRPr sz="1900" b="0">
                <a:solidFill>
                  <a:srgbClr val="23303A"/>
                </a:solidFill>
                <a:latin typeface="Aptos"/>
              </a:defRPr>
            </a:pPr>
            <a:r>
              <a:t>                         cea mai tradusă carte</a:t>
            </a:r>
          </a:p>
          <a:p>
            <a:pPr>
              <a:spcAft>
                <a:spcPts val="200"/>
              </a:spcAft>
              <a:defRPr sz="1900" b="0">
                <a:solidFill>
                  <a:srgbClr val="23303A"/>
                </a:solidFill>
                <a:latin typeface="Aptos"/>
              </a:defRPr>
            </a:pPr>
          </a:p>
          <a:p>
            <a:pPr>
              <a:spcAft>
                <a:spcPts val="200"/>
              </a:spcAft>
              <a:defRPr sz="1900" b="0">
                <a:solidFill>
                  <a:srgbClr val="23303A"/>
                </a:solidFill>
                <a:latin typeface="Aptos"/>
              </a:defRPr>
            </a:pPr>
            <a:r>
              <a:t>	- fără roade ??!!</a:t>
            </a:r>
          </a:p>
          <a:p>
            <a:pPr>
              <a:spcAft>
                <a:spcPts val="200"/>
              </a:spcAft>
              <a:defRPr sz="1900" b="0">
                <a:solidFill>
                  <a:srgbClr val="23303A"/>
                </a:solidFill>
                <a:latin typeface="Aptos"/>
              </a:defRPr>
            </a:pPr>
            <a:r>
              <a:t>	Încercare de răspuns: Pilda semănătorului </a:t>
            </a:r>
          </a:p>
          <a:p>
            <a:pPr>
              <a:spcAft>
                <a:spcPts val="200"/>
              </a:spcAft>
              <a:defRPr sz="1900" b="0">
                <a:solidFill>
                  <a:srgbClr val="23303A"/>
                </a:solidFill>
                <a:latin typeface="Aptos"/>
              </a:defRPr>
            </a:pPr>
            <a:r>
              <a:t>(Lc 8,5-15)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09</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b. Cauzele nerodirii cuvântului</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620" b="0">
                <a:solidFill>
                  <a:srgbClr val="23303A"/>
                </a:solidFill>
                <a:latin typeface="Aptos"/>
              </a:defRPr>
            </a:pPr>
            <a:r>
              <a:t>	b. Cauzele nerodirii cuvântului</a:t>
            </a:r>
          </a:p>
          <a:p>
            <a:pPr>
              <a:spcAft>
                <a:spcPts val="200"/>
              </a:spcAft>
              <a:defRPr sz="1620" b="0">
                <a:solidFill>
                  <a:srgbClr val="23303A"/>
                </a:solidFill>
                <a:latin typeface="Aptos"/>
              </a:defRPr>
            </a:pPr>
            <a:r>
              <a:t>	</a:t>
            </a:r>
          </a:p>
          <a:p>
            <a:pPr>
              <a:spcAft>
                <a:spcPts val="200"/>
              </a:spcAft>
              <a:defRPr sz="1620" b="0">
                <a:solidFill>
                  <a:srgbClr val="23303A"/>
                </a:solidFill>
                <a:latin typeface="Aptos"/>
              </a:defRPr>
            </a:pPr>
            <a:r>
              <a:t>	 - Abordarea acestuia cu necredință</a:t>
            </a:r>
          </a:p>
          <a:p>
            <a:pPr>
              <a:spcAft>
                <a:spcPts val="200"/>
              </a:spcAft>
              <a:defRPr sz="1620" b="0">
                <a:solidFill>
                  <a:srgbClr val="23303A"/>
                </a:solidFill>
                <a:latin typeface="Aptos"/>
              </a:defRPr>
            </a:pPr>
            <a:r>
              <a:t>		- Iisus în Nazaret</a:t>
            </a:r>
          </a:p>
          <a:p>
            <a:pPr>
              <a:spcAft>
                <a:spcPts val="200"/>
              </a:spcAft>
              <a:defRPr sz="1620" b="0">
                <a:solidFill>
                  <a:srgbClr val="23303A"/>
                </a:solidFill>
                <a:latin typeface="Aptos"/>
              </a:defRPr>
            </a:pPr>
          </a:p>
          <a:p>
            <a:pPr>
              <a:spcAft>
                <a:spcPts val="200"/>
              </a:spcAft>
              <a:defRPr sz="1620" b="0">
                <a:solidFill>
                  <a:srgbClr val="23303A"/>
                </a:solidFill>
                <a:latin typeface="Aptos"/>
              </a:defRPr>
            </a:pPr>
            <a:r>
              <a:t>	”Şi venind în patria Sa îi  învăţa pe ei în sinagoga lor, încât ei erau uimiţi şi ziceau: De unde are El înţelepciunea aceasta şi puterile? Oare nu este acesta fiul teslarului? Au nu se numeşte mama sa Maria şi fraţii Săi Iacob şi Iosif şi Simon şi Iuda şi surorile lui oare nu sunt toate la noi? Deci, de unde are El toate acestea?...  Şi se poticneau întru El... Şi n-a făcut acolo multe minuni, din pricina necredinţei lor” (Mt. 13. 54-58).</a:t>
            </a:r>
          </a:p>
          <a:p>
            <a:pPr>
              <a:spcAft>
                <a:spcPts val="200"/>
              </a:spcAft>
              <a:defRPr sz="1620" b="0">
                <a:solidFill>
                  <a:srgbClr val="23303A"/>
                </a:solidFill>
                <a:latin typeface="Aptos"/>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10</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Cuvântul lui Dumnezeu lucrează</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2300" b="0">
                <a:solidFill>
                  <a:srgbClr val="23303A"/>
                </a:solidFill>
                <a:latin typeface="Aptos"/>
              </a:defRPr>
            </a:pPr>
            <a:r>
              <a:t>	</a:t>
            </a:r>
          </a:p>
          <a:p>
            <a:pPr>
              <a:spcAft>
                <a:spcPts val="200"/>
              </a:spcAft>
              <a:defRPr sz="2300" b="0">
                <a:solidFill>
                  <a:srgbClr val="23303A"/>
                </a:solidFill>
                <a:latin typeface="Aptos"/>
              </a:defRPr>
            </a:pPr>
            <a:r>
              <a:t>	 I Tes. 2,15 </a:t>
            </a:r>
          </a:p>
          <a:p>
            <a:pPr>
              <a:spcAft>
                <a:spcPts val="200"/>
              </a:spcAft>
              <a:defRPr sz="2300" b="0">
                <a:solidFill>
                  <a:srgbClr val="23303A"/>
                </a:solidFill>
                <a:latin typeface="Aptos"/>
              </a:defRPr>
            </a:pPr>
          </a:p>
          <a:p>
            <a:pPr>
              <a:spcAft>
                <a:spcPts val="200"/>
              </a:spcAft>
              <a:defRPr sz="2300" b="0">
                <a:solidFill>
                  <a:srgbClr val="23303A"/>
                </a:solidFill>
                <a:latin typeface="Aptos"/>
              </a:defRPr>
            </a:pPr>
            <a:r>
              <a:t>	”Cuvântul lui Dumnezeu lucrează ( ˜nergeita… ) în voi, cei ce credeţi (™n Ømin to‹j pisteÚonsin )</a:t>
            </a:r>
          </a:p>
          <a:p>
            <a:pPr>
              <a:spcAft>
                <a:spcPts val="200"/>
              </a:spcAft>
              <a:defRPr sz="2300" b="0">
                <a:solidFill>
                  <a:srgbClr val="23303A"/>
                </a:solidFill>
                <a:latin typeface="Aptos"/>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11</a:t>
            </a:r>
          </a:p>
        </p:txBody>
      </p:sp>
      <p:sp>
        <p:nvSpPr>
          <p:cNvPr id="9" name="TextBox 8"/>
          <p:cNvSpPr txBox="1"/>
          <p:nvPr/>
        </p:nvSpPr>
        <p:spPr>
          <a:xfrm>
            <a:off x="822960" y="932688"/>
            <a:ext cx="10515600" cy="822960"/>
          </a:xfrm>
          <a:prstGeom prst="rect">
            <a:avLst/>
          </a:prstGeom>
          <a:noFill/>
        </p:spPr>
        <p:txBody>
          <a:bodyPr wrap="square" lIns="73152" rIns="73152" tIns="36576">
            <a:spAutoFit/>
          </a:bodyPr>
          <a:lstStyle/>
          <a:p>
            <a:pPr>
              <a:spcAft>
                <a:spcPts val="200"/>
              </a:spcAft>
              <a:defRPr sz="2900" b="1">
                <a:solidFill>
                  <a:srgbClr val="23303A"/>
                </a:solidFill>
                <a:latin typeface="Georgia"/>
              </a:defRPr>
            </a:pPr>
            <a:r>
              <a:t>Scriptură și Euharistie</a:t>
            </a:r>
          </a:p>
        </p:txBody>
      </p:sp>
      <p:sp>
        <p:nvSpPr>
          <p:cNvPr id="10" name="Rectangle 9"/>
          <p:cNvSpPr/>
          <p:nvPr/>
        </p:nvSpPr>
        <p:spPr>
          <a:xfrm>
            <a:off x="822960" y="1847088"/>
            <a:ext cx="1024128" cy="3657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103120"/>
            <a:ext cx="5166360" cy="406908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2103120"/>
            <a:ext cx="5166360" cy="406908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295144"/>
            <a:ext cx="4754880" cy="3657600"/>
          </a:xfrm>
          <a:prstGeom prst="rect">
            <a:avLst/>
          </a:prstGeom>
          <a:noFill/>
        </p:spPr>
        <p:txBody>
          <a:bodyPr wrap="square" lIns="73152" rIns="73152" tIns="36576">
            <a:spAutoFit/>
          </a:bodyPr>
          <a:lstStyle/>
          <a:p>
            <a:pPr>
              <a:spcAft>
                <a:spcPts val="200"/>
              </a:spcAft>
              <a:defRPr sz="1600" b="0">
                <a:solidFill>
                  <a:srgbClr val="23303A"/>
                </a:solidFill>
                <a:latin typeface="Aptos"/>
              </a:defRPr>
            </a:pPr>
            <a:r>
              <a:t>- Separarea cuvântului lui Dumnezeu de Euharistie (Liturghie)</a:t>
            </a:r>
          </a:p>
          <a:p>
            <a:pPr>
              <a:spcAft>
                <a:spcPts val="200"/>
              </a:spcAft>
              <a:defRPr sz="1600" b="0">
                <a:solidFill>
                  <a:srgbClr val="23303A"/>
                </a:solidFill>
                <a:latin typeface="Aptos"/>
              </a:defRPr>
            </a:pPr>
            <a:r>
              <a:t>	</a:t>
            </a:r>
          </a:p>
          <a:p>
            <a:pPr>
              <a:spcAft>
                <a:spcPts val="200"/>
              </a:spcAft>
              <a:defRPr sz="1600" b="0">
                <a:solidFill>
                  <a:srgbClr val="23303A"/>
                </a:solidFill>
                <a:latin typeface="Aptos"/>
              </a:defRPr>
            </a:pPr>
            <a:r>
              <a:t>Fer. Ieronim (sec. 4-5) </a:t>
            </a:r>
          </a:p>
          <a:p>
            <a:pPr>
              <a:spcAft>
                <a:spcPts val="200"/>
              </a:spcAft>
              <a:defRPr sz="1600" b="0">
                <a:solidFill>
                  <a:srgbClr val="23303A"/>
                </a:solidFill>
                <a:latin typeface="Aptos"/>
              </a:defRPr>
            </a:pPr>
            <a:r>
              <a:t>		“Noi mâncăm şi bem trupul şi sângele Său în dumnezeiasca Euharistie, dar şi în lectura Scripturilor”.</a:t>
            </a:r>
          </a:p>
        </p:txBody>
      </p:sp>
      <p:sp>
        <p:nvSpPr>
          <p:cNvPr id="14" name="TextBox 13"/>
          <p:cNvSpPr txBox="1"/>
          <p:nvPr/>
        </p:nvSpPr>
        <p:spPr>
          <a:xfrm>
            <a:off x="6336792" y="2295144"/>
            <a:ext cx="4709160" cy="3657600"/>
          </a:xfrm>
          <a:prstGeom prst="rect">
            <a:avLst/>
          </a:prstGeom>
          <a:noFill/>
        </p:spPr>
        <p:txBody>
          <a:bodyPr wrap="square" lIns="73152" rIns="73152" tIns="36576">
            <a:spAutoFit/>
          </a:bodyPr>
          <a:lstStyle/>
          <a:p>
            <a:pPr>
              <a:spcAft>
                <a:spcPts val="200"/>
              </a:spcAft>
              <a:defRPr sz="1520" b="0">
                <a:solidFill>
                  <a:srgbClr val="23303A"/>
                </a:solidFill>
                <a:latin typeface="Aptos"/>
              </a:defRPr>
            </a:pPr>
            <a:r>
              <a:t>Origen (sec. 3)</a:t>
            </a:r>
          </a:p>
          <a:p>
            <a:pPr>
              <a:spcAft>
                <a:spcPts val="200"/>
              </a:spcAft>
              <a:defRPr sz="1520" b="0">
                <a:solidFill>
                  <a:srgbClr val="23303A"/>
                </a:solidFill>
                <a:latin typeface="Aptos"/>
              </a:defRPr>
            </a:pPr>
            <a:r>
              <a:t>	“Dacă pentru trupul şi sângele Mântuitorului manifestăm o grijă deosebită ca nu cumva vreo fărâmitură să cadă pe jos şi să o pierdem, atunci aceeaşi grijă datorăm şi faţă de cuvintele lui Hristos din Scriptură, pentru că păcatul este acelaşi în cazul pierderii”.</a:t>
            </a:r>
          </a:p>
          <a:p>
            <a:pPr>
              <a:spcAft>
                <a:spcPts val="200"/>
              </a:spcAft>
              <a:defRPr sz="1520" b="0">
                <a:solidFill>
                  <a:srgbClr val="23303A"/>
                </a:solidFill>
                <a:latin typeface="Aptos"/>
              </a:defRPr>
            </a:pPr>
          </a:p>
          <a:p>
            <a:pPr>
              <a:spcAft>
                <a:spcPts val="200"/>
              </a:spcAft>
              <a:defRPr sz="1520" b="0">
                <a:solidFill>
                  <a:srgbClr val="23303A"/>
                </a:solidFill>
                <a:latin typeface="Aptos"/>
              </a:defRPr>
            </a:pPr>
            <a:r>
              <a:t>”Hristosul Cuvântului” se descoperă deplin numai în ”Hristosul euharistic”</a:t>
            </a:r>
          </a:p>
          <a:p>
            <a:pPr>
              <a:spcAft>
                <a:spcPts val="200"/>
              </a:spcAft>
              <a:defRPr sz="1520" b="0">
                <a:solidFill>
                  <a:srgbClr val="23303A"/>
                </a:solidFill>
                <a:latin typeface="Aptos"/>
              </a:defRPr>
            </a:pPr>
          </a:p>
          <a:p>
            <a:pPr>
              <a:spcAft>
                <a:spcPts val="200"/>
              </a:spcAft>
              <a:defRPr sz="1520" b="0">
                <a:solidFill>
                  <a:srgbClr val="23303A"/>
                </a:solidFill>
                <a:latin typeface="Aptos"/>
              </a:defRPr>
            </a:pPr>
            <a:r>
              <a:t>	- Descoperirea de la Emaus (Lc.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12</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Cuvântul asumat în viață</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1900" b="0">
                <a:solidFill>
                  <a:srgbClr val="23303A"/>
                </a:solidFill>
                <a:latin typeface="Aptos"/>
              </a:defRPr>
            </a:pPr>
            <a:r>
              <a:t>	- Neimplicarea vieții personale în cuvânt</a:t>
            </a:r>
          </a:p>
          <a:p>
            <a:pPr>
              <a:spcAft>
                <a:spcPts val="200"/>
              </a:spcAft>
              <a:defRPr sz="1900" b="0">
                <a:solidFill>
                  <a:srgbClr val="23303A"/>
                </a:solidFill>
                <a:latin typeface="Aptos"/>
              </a:defRPr>
            </a:pPr>
          </a:p>
          <a:p>
            <a:pPr>
              <a:spcAft>
                <a:spcPts val="200"/>
              </a:spcAft>
              <a:defRPr sz="1900" b="0">
                <a:solidFill>
                  <a:srgbClr val="23303A"/>
                </a:solidFill>
                <a:latin typeface="Aptos"/>
              </a:defRPr>
            </a:pPr>
            <a:r>
              <a:t>David și Natan (2 Regi 12, 1-5. 7. 9-10. 12-13)</a:t>
            </a:r>
          </a:p>
          <a:p>
            <a:pPr>
              <a:spcAft>
                <a:spcPts val="200"/>
              </a:spcAft>
              <a:defRPr sz="1900" b="0">
                <a:solidFill>
                  <a:srgbClr val="23303A"/>
                </a:solidFill>
                <a:latin typeface="Aptos"/>
              </a:defRPr>
            </a:pPr>
          </a:p>
          <a:p>
            <a:pPr>
              <a:spcAft>
                <a:spcPts val="200"/>
              </a:spcAft>
              <a:defRPr sz="1900" b="0">
                <a:solidFill>
                  <a:srgbClr val="23303A"/>
                </a:solidFill>
                <a:latin typeface="Aptos"/>
              </a:defRPr>
            </a:pPr>
          </a:p>
          <a:p>
            <a:pPr>
              <a:spcAft>
                <a:spcPts val="200"/>
              </a:spcAft>
              <a:defRPr sz="1900" b="0">
                <a:solidFill>
                  <a:srgbClr val="23303A"/>
                </a:solidFill>
                <a:latin typeface="Aptos"/>
              </a:defRPr>
            </a:pPr>
            <a:r>
              <a:t>	                   când știa numai = prigonea </a:t>
            </a:r>
          </a:p>
          <a:p>
            <a:pPr>
              <a:spcAft>
                <a:spcPts val="200"/>
              </a:spcAft>
              <a:defRPr sz="1900" b="0">
                <a:solidFill>
                  <a:srgbClr val="23303A"/>
                </a:solidFill>
                <a:latin typeface="Aptos"/>
              </a:defRPr>
            </a:pPr>
            <a:r>
              <a:t>Saul</a:t>
            </a:r>
          </a:p>
          <a:p>
            <a:pPr>
              <a:spcAft>
                <a:spcPts val="200"/>
              </a:spcAft>
              <a:defRPr sz="1900" b="0">
                <a:solidFill>
                  <a:srgbClr val="23303A"/>
                </a:solidFill>
                <a:latin typeface="Aptos"/>
              </a:defRPr>
            </a:pPr>
            <a:r>
              <a:t>                   când l-a trăit pe Iisus = exclamă:  ”De acum nu mai trăiesc eu, ci Hristos trăieşte în mine” (Gal. 2, 20)</a:t>
            </a:r>
          </a:p>
          <a:p>
            <a:pPr>
              <a:spcAft>
                <a:spcPts val="200"/>
              </a:spcAft>
              <a:defRPr sz="1900" b="0">
                <a:solidFill>
                  <a:srgbClr val="23303A"/>
                </a:solidFill>
                <a:latin typeface="Aptos"/>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13</a:t>
            </a:r>
          </a:p>
        </p:txBody>
      </p:sp>
      <p:sp>
        <p:nvSpPr>
          <p:cNvPr id="9" name="TextBox 8"/>
          <p:cNvSpPr txBox="1"/>
          <p:nvPr/>
        </p:nvSpPr>
        <p:spPr>
          <a:xfrm>
            <a:off x="822960" y="1051560"/>
            <a:ext cx="10424160" cy="777240"/>
          </a:xfrm>
          <a:prstGeom prst="rect">
            <a:avLst/>
          </a:prstGeom>
          <a:noFill/>
        </p:spPr>
        <p:txBody>
          <a:bodyPr wrap="square" lIns="73152" rIns="73152" tIns="36576">
            <a:spAutoFit/>
          </a:bodyPr>
          <a:lstStyle/>
          <a:p>
            <a:pPr>
              <a:spcAft>
                <a:spcPts val="200"/>
              </a:spcAft>
              <a:defRPr sz="2900" b="1">
                <a:solidFill>
                  <a:srgbClr val="23303A"/>
                </a:solidFill>
                <a:latin typeface="Georgia"/>
              </a:defRPr>
            </a:pPr>
            <a:r>
              <a:t>EU · Biblia</a:t>
            </a:r>
          </a:p>
        </p:txBody>
      </p:sp>
      <p:sp>
        <p:nvSpPr>
          <p:cNvPr id="10" name="Rectangle 9"/>
          <p:cNvSpPr/>
          <p:nvPr/>
        </p:nvSpPr>
        <p:spPr>
          <a:xfrm>
            <a:off x="1051560" y="2743200"/>
            <a:ext cx="3200400" cy="1508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182112"/>
            <a:ext cx="3017520" cy="685800"/>
          </a:xfrm>
          <a:prstGeom prst="rect">
            <a:avLst/>
          </a:prstGeom>
          <a:noFill/>
        </p:spPr>
        <p:txBody>
          <a:bodyPr wrap="square" lIns="73152" rIns="73152" tIns="36576">
            <a:spAutoFit/>
          </a:bodyPr>
          <a:lstStyle/>
          <a:p>
            <a:pPr algn="ctr">
              <a:spcAft>
                <a:spcPts val="200"/>
              </a:spcAft>
              <a:defRPr sz="2700" b="1">
                <a:solidFill>
                  <a:srgbClr val="23303A"/>
                </a:solidFill>
                <a:latin typeface="Georgia"/>
              </a:defRPr>
            </a:pPr>
            <a:r>
              <a:t>  EU</a:t>
            </a:r>
          </a:p>
        </p:txBody>
      </p:sp>
      <p:sp>
        <p:nvSpPr>
          <p:cNvPr id="12" name="Rectangle 11"/>
          <p:cNvSpPr/>
          <p:nvPr/>
        </p:nvSpPr>
        <p:spPr>
          <a:xfrm>
            <a:off x="4754879" y="2743200"/>
            <a:ext cx="3200400" cy="1508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19" y="3182112"/>
            <a:ext cx="3017520" cy="685800"/>
          </a:xfrm>
          <a:prstGeom prst="rect">
            <a:avLst/>
          </a:prstGeom>
          <a:noFill/>
        </p:spPr>
        <p:txBody>
          <a:bodyPr wrap="square" lIns="73152" rIns="73152" tIns="36576">
            <a:spAutoFit/>
          </a:bodyPr>
          <a:lstStyle/>
          <a:p>
            <a:pPr algn="ctr">
              <a:spcAft>
                <a:spcPts val="200"/>
              </a:spcAft>
              <a:defRPr sz="2700" b="1">
                <a:solidFill>
                  <a:srgbClr val="23303A"/>
                </a:solidFill>
                <a:latin typeface="Georgia"/>
              </a:defRPr>
            </a:pPr>
            <a:r>
              <a:t>Biblia</a:t>
            </a:r>
          </a:p>
        </p:txBody>
      </p:sp>
      <p:sp>
        <p:nvSpPr>
          <p:cNvPr id="14" name="Rectangle 13"/>
          <p:cNvSpPr/>
          <p:nvPr/>
        </p:nvSpPr>
        <p:spPr>
          <a:xfrm>
            <a:off x="8458200" y="2743200"/>
            <a:ext cx="3200400" cy="1508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3182112"/>
            <a:ext cx="3017520" cy="685800"/>
          </a:xfrm>
          <a:prstGeom prst="rect">
            <a:avLst/>
          </a:prstGeom>
          <a:noFill/>
        </p:spPr>
        <p:txBody>
          <a:bodyPr wrap="square" lIns="73152" rIns="73152" tIns="36576">
            <a:spAutoFit/>
          </a:bodyPr>
          <a:lstStyle/>
          <a:p>
            <a:pPr algn="ctr">
              <a:spcAft>
                <a:spcPts val="200"/>
              </a:spcAft>
              <a:defRPr sz="2700" b="1">
                <a:solidFill>
                  <a:srgbClr val="23303A"/>
                </a:solidFill>
                <a:latin typeface="Georgia"/>
              </a:defRPr>
            </a:pPr>
            <a:r>
              <a:t>Biblia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14</a:t>
            </a:r>
          </a:p>
        </p:txBody>
      </p:sp>
      <p:sp>
        <p:nvSpPr>
          <p:cNvPr id="9" name="TextBox 8"/>
          <p:cNvSpPr txBox="1"/>
          <p:nvPr/>
        </p:nvSpPr>
        <p:spPr>
          <a:xfrm>
            <a:off x="822960" y="1051560"/>
            <a:ext cx="10424160" cy="777240"/>
          </a:xfrm>
          <a:prstGeom prst="rect">
            <a:avLst/>
          </a:prstGeom>
          <a:noFill/>
        </p:spPr>
        <p:txBody>
          <a:bodyPr wrap="square" lIns="73152" rIns="73152" tIns="36576">
            <a:spAutoFit/>
          </a:bodyPr>
          <a:lstStyle/>
          <a:p>
            <a:pPr>
              <a:spcAft>
                <a:spcPts val="200"/>
              </a:spcAft>
              <a:defRPr sz="2900" b="1">
                <a:solidFill>
                  <a:srgbClr val="23303A"/>
                </a:solidFill>
                <a:latin typeface="Georgia"/>
              </a:defRPr>
            </a:pPr>
            <a:r>
              <a:t>Biblia · EU</a:t>
            </a:r>
          </a:p>
        </p:txBody>
      </p:sp>
      <p:sp>
        <p:nvSpPr>
          <p:cNvPr id="10" name="Rectangle 9"/>
          <p:cNvSpPr/>
          <p:nvPr/>
        </p:nvSpPr>
        <p:spPr>
          <a:xfrm>
            <a:off x="1051560" y="2743200"/>
            <a:ext cx="3200400" cy="1508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182112"/>
            <a:ext cx="3017520" cy="685800"/>
          </a:xfrm>
          <a:prstGeom prst="rect">
            <a:avLst/>
          </a:prstGeom>
          <a:noFill/>
        </p:spPr>
        <p:txBody>
          <a:bodyPr wrap="square" lIns="73152" rIns="73152" tIns="36576">
            <a:spAutoFit/>
          </a:bodyPr>
          <a:lstStyle/>
          <a:p>
            <a:pPr algn="ctr">
              <a:spcAft>
                <a:spcPts val="200"/>
              </a:spcAft>
              <a:defRPr sz="2700" b="1">
                <a:solidFill>
                  <a:srgbClr val="23303A"/>
                </a:solidFill>
                <a:latin typeface="Georgia"/>
              </a:defRPr>
            </a:pPr>
            <a:r>
              <a:t>Biblia</a:t>
            </a:r>
          </a:p>
        </p:txBody>
      </p:sp>
      <p:sp>
        <p:nvSpPr>
          <p:cNvPr id="12" name="Rectangle 11"/>
          <p:cNvSpPr/>
          <p:nvPr/>
        </p:nvSpPr>
        <p:spPr>
          <a:xfrm>
            <a:off x="4754879" y="2743200"/>
            <a:ext cx="3200400" cy="1508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19" y="3182112"/>
            <a:ext cx="3017520" cy="685800"/>
          </a:xfrm>
          <a:prstGeom prst="rect">
            <a:avLst/>
          </a:prstGeom>
          <a:noFill/>
        </p:spPr>
        <p:txBody>
          <a:bodyPr wrap="square" lIns="73152" rIns="73152" tIns="36576">
            <a:spAutoFit/>
          </a:bodyPr>
          <a:lstStyle/>
          <a:p>
            <a:pPr algn="ctr">
              <a:spcAft>
                <a:spcPts val="200"/>
              </a:spcAft>
              <a:defRPr sz="2700" b="1">
                <a:solidFill>
                  <a:srgbClr val="23303A"/>
                </a:solidFill>
                <a:latin typeface="Georgia"/>
              </a:defRPr>
            </a:pPr>
            <a:r>
              <a:t>EU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15</a:t>
            </a:r>
          </a:p>
        </p:txBody>
      </p:sp>
      <p:sp>
        <p:nvSpPr>
          <p:cNvPr id="9" name="TextBox 8"/>
          <p:cNvSpPr txBox="1"/>
          <p:nvPr/>
        </p:nvSpPr>
        <p:spPr>
          <a:xfrm>
            <a:off x="777240" y="932688"/>
            <a:ext cx="10607040" cy="914400"/>
          </a:xfrm>
          <a:prstGeom prst="rect">
            <a:avLst/>
          </a:prstGeom>
          <a:noFill/>
        </p:spPr>
        <p:txBody>
          <a:bodyPr wrap="square" lIns="73152" rIns="73152" tIns="36576">
            <a:spAutoFit/>
          </a:bodyPr>
          <a:lstStyle/>
          <a:p>
            <a:pPr>
              <a:spcAft>
                <a:spcPts val="200"/>
              </a:spcAft>
              <a:defRPr sz="2800" b="1">
                <a:solidFill>
                  <a:srgbClr val="23303A"/>
                </a:solidFill>
                <a:latin typeface="Georgia"/>
              </a:defRPr>
            </a:pPr>
            <a:r>
              <a:t>Răspunsul personal</a:t>
            </a:r>
          </a:p>
        </p:txBody>
      </p:sp>
      <p:sp>
        <p:nvSpPr>
          <p:cNvPr id="10" name="Rectangle 9"/>
          <p:cNvSpPr/>
          <p:nvPr/>
        </p:nvSpPr>
        <p:spPr>
          <a:xfrm>
            <a:off x="822960" y="1938528"/>
            <a:ext cx="1024128" cy="41148"/>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240280"/>
            <a:ext cx="10469880" cy="3794760"/>
          </a:xfrm>
          <a:prstGeom prst="rect">
            <a:avLst/>
          </a:prstGeom>
          <a:solidFill>
            <a:srgbClr val="F1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87168"/>
            <a:ext cx="9966960" cy="3474720"/>
          </a:xfrm>
          <a:prstGeom prst="rect">
            <a:avLst/>
          </a:prstGeom>
          <a:noFill/>
        </p:spPr>
        <p:txBody>
          <a:bodyPr wrap="square" lIns="73152" rIns="73152" tIns="36576">
            <a:spAutoFit/>
          </a:bodyPr>
          <a:lstStyle/>
          <a:p>
            <a:pPr>
              <a:spcAft>
                <a:spcPts val="200"/>
              </a:spcAft>
              <a:defRPr sz="2400" b="0">
                <a:solidFill>
                  <a:srgbClr val="23303A"/>
                </a:solidFill>
                <a:latin typeface="Aptos"/>
              </a:defRPr>
            </a:pPr>
          </a:p>
          <a:p>
            <a:pPr>
              <a:spcAft>
                <a:spcPts val="200"/>
              </a:spcAft>
              <a:defRPr sz="2400" b="0">
                <a:solidFill>
                  <a:srgbClr val="23303A"/>
                </a:solidFill>
                <a:latin typeface="Aptos"/>
              </a:defRPr>
            </a:pPr>
            <a:r>
              <a:t>	”Biblia e singura carte care cere un răspuns !” </a:t>
            </a:r>
          </a:p>
          <a:p>
            <a:pPr>
              <a:spcAft>
                <a:spcPts val="200"/>
              </a:spcAft>
              <a:defRPr sz="2400" b="0">
                <a:solidFill>
                  <a:srgbClr val="23303A"/>
                </a:solidFill>
                <a:latin typeface="Aptos"/>
              </a:defRPr>
            </a:pPr>
          </a:p>
          <a:p>
            <a:pPr>
              <a:spcAft>
                <a:spcPts val="200"/>
              </a:spcAft>
              <a:defRPr sz="2400" b="0">
                <a:solidFill>
                  <a:srgbClr val="23303A"/>
                </a:solidFill>
                <a:latin typeface="Aptos"/>
              </a:defRPr>
            </a:pPr>
            <a:r>
              <a:t>	</a:t>
            </a:r>
          </a:p>
          <a:p>
            <a:pPr>
              <a:spcAft>
                <a:spcPts val="200"/>
              </a:spcAft>
              <a:defRPr sz="2400" b="0">
                <a:solidFill>
                  <a:srgbClr val="23303A"/>
                </a:solidFill>
                <a:latin typeface="Aptos"/>
              </a:defRPr>
            </a:pPr>
            <a:r>
              <a:t>		Ai dat un răspuns?</a:t>
            </a:r>
          </a:p>
          <a:p>
            <a:pPr>
              <a:spcAft>
                <a:spcPts val="200"/>
              </a:spcAft>
              <a:defRPr sz="2400" b="0">
                <a:solidFill>
                  <a:srgbClr val="23303A"/>
                </a:solidFill>
                <a:latin typeface="Aptos"/>
              </a:defRPr>
            </a:pPr>
          </a:p>
          <a:p>
            <a:pPr>
              <a:spcAft>
                <a:spcPts val="200"/>
              </a:spcAft>
              <a:defRPr sz="2400" b="0">
                <a:solidFill>
                  <a:srgbClr val="23303A"/>
                </a:solidFill>
                <a:latin typeface="Aptos"/>
              </a:defRPr>
            </a:pPr>
            <a:r>
              <a:t>		Ai un răspuns?</a:t>
            </a:r>
          </a:p>
          <a:p>
            <a:pPr>
              <a:spcAft>
                <a:spcPts val="200"/>
              </a:spcAft>
              <a:defRPr sz="2400" b="0">
                <a:solidFill>
                  <a:srgbClr val="23303A"/>
                </a:solidFill>
                <a:latin typeface="Aptos"/>
              </a:defRPr>
            </a:pPr>
          </a:p>
          <a:p>
            <a:pPr>
              <a:spcAft>
                <a:spcPts val="200"/>
              </a:spcAft>
              <a:defRPr sz="2400" b="0">
                <a:solidFill>
                  <a:srgbClr val="23303A"/>
                </a:solidFill>
                <a:latin typeface="Aptos"/>
              </a:defRPr>
            </a:pPr>
          </a:p>
          <a:p>
            <a:pPr>
              <a:spcAft>
                <a:spcPts val="200"/>
              </a:spcAft>
              <a:defRPr sz="2400" b="0">
                <a:solidFill>
                  <a:srgbClr val="23303A"/>
                </a:solidFill>
                <a:latin typeface="Aptos"/>
              </a:defRPr>
            </a:pPr>
            <a:r>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 cy="685800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685800"/>
            <a:ext cx="10771632" cy="14630"/>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301752"/>
            <a:ext cx="10058400" cy="274320"/>
          </a:xfrm>
          <a:prstGeom prst="rect">
            <a:avLst/>
          </a:prstGeom>
          <a:noFill/>
        </p:spPr>
        <p:txBody>
          <a:bodyPr wrap="square" lIns="73152" rIns="73152" tIns="36576">
            <a:spAutoFit/>
          </a:bodyPr>
          <a:lstStyle/>
          <a:p>
            <a:pPr>
              <a:spcAft>
                <a:spcPts val="200"/>
              </a:spcAft>
              <a:defRPr sz="1000" b="1">
                <a:solidFill>
                  <a:srgbClr val="9D7846"/>
                </a:solidFill>
                <a:latin typeface="Aptos"/>
              </a:defRPr>
            </a:pPr>
            <a:r>
              <a:t>SĂ CITIM ȘI SĂ ÎNVĂȚĂM BIBLIA!  /  PR. STELIAN TOFANĂ</a:t>
            </a:r>
          </a:p>
        </p:txBody>
      </p:sp>
      <p:sp>
        <p:nvSpPr>
          <p:cNvPr id="6" name="Rectangle 5"/>
          <p:cNvSpPr/>
          <p:nvPr/>
        </p:nvSpPr>
        <p:spPr>
          <a:xfrm>
            <a:off x="713232" y="6391656"/>
            <a:ext cx="10771632" cy="13716"/>
          </a:xfrm>
          <a:prstGeom prst="rect">
            <a:avLst/>
          </a:prstGeom>
          <a:solidFill>
            <a:srgbClr val="9D7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64808"/>
            <a:ext cx="8229600" cy="219456"/>
          </a:xfrm>
          <a:prstGeom prst="rect">
            <a:avLst/>
          </a:prstGeom>
          <a:noFill/>
        </p:spPr>
        <p:txBody>
          <a:bodyPr wrap="square" lIns="73152" rIns="73152" tIns="36576">
            <a:spAutoFit/>
          </a:bodyPr>
          <a:lstStyle/>
          <a:p>
            <a:pPr>
              <a:spcAft>
                <a:spcPts val="200"/>
              </a:spcAft>
              <a:defRPr sz="900" b="0">
                <a:solidFill>
                  <a:srgbClr val="686D6C"/>
                </a:solidFill>
                <a:latin typeface="Aptos"/>
              </a:defRPr>
            </a:pPr>
            <a:r>
              <a:t>PROGRAM BIBLIC  ·  MATERIALE DE FORMARE CATEHETICĂ</a:t>
            </a:r>
          </a:p>
        </p:txBody>
      </p:sp>
      <p:sp>
        <p:nvSpPr>
          <p:cNvPr id="8" name="TextBox 7"/>
          <p:cNvSpPr txBox="1"/>
          <p:nvPr/>
        </p:nvSpPr>
        <p:spPr>
          <a:xfrm>
            <a:off x="10972800" y="6437376"/>
            <a:ext cx="457200" cy="256032"/>
          </a:xfrm>
          <a:prstGeom prst="rect">
            <a:avLst/>
          </a:prstGeom>
          <a:noFill/>
        </p:spPr>
        <p:txBody>
          <a:bodyPr wrap="square" lIns="73152" rIns="73152" tIns="36576">
            <a:spAutoFit/>
          </a:bodyPr>
          <a:lstStyle/>
          <a:p>
            <a:pPr algn="ctr">
              <a:spcAft>
                <a:spcPts val="200"/>
              </a:spcAft>
              <a:defRPr sz="1000" b="1">
                <a:solidFill>
                  <a:srgbClr val="9D7846"/>
                </a:solidFill>
                <a:latin typeface="Aptos"/>
              </a:defRPr>
            </a:pPr>
            <a:r>
              <a:t>16</a:t>
            </a:r>
          </a:p>
        </p:txBody>
      </p:sp>
      <p:sp>
        <p:nvSpPr>
          <p:cNvPr id="9" name="TextBox 8"/>
          <p:cNvSpPr txBox="1"/>
          <p:nvPr/>
        </p:nvSpPr>
        <p:spPr>
          <a:xfrm>
            <a:off x="914400" y="2468880"/>
            <a:ext cx="10058400" cy="1371600"/>
          </a:xfrm>
          <a:prstGeom prst="rect">
            <a:avLst/>
          </a:prstGeom>
          <a:noFill/>
        </p:spPr>
        <p:txBody>
          <a:bodyPr wrap="square" lIns="73152" rIns="73152" tIns="36576">
            <a:spAutoFit/>
          </a:bodyPr>
          <a:lstStyle/>
          <a:p>
            <a:pPr algn="ctr">
              <a:spcAft>
                <a:spcPts val="200"/>
              </a:spcAft>
              <a:defRPr sz="4300" b="1">
                <a:solidFill>
                  <a:srgbClr val="23303A"/>
                </a:solidFill>
                <a:latin typeface="Georgia"/>
              </a:defRPr>
            </a:pPr>
            <a:r>
              <a:t>Vă   mulțumesc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