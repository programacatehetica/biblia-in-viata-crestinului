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TEXTUL ORIGINAL AL DIAPOZITIVULUI:</a:t>
            </a:r>
          </a:p>
          <a:p>
            <a:r>
              <a:t>Ce este Biblia?</a:t>
            </a:r>
            <a:br/>
            <a:r>
              <a:t>De ce trebuie să o citim?</a:t>
            </a:r>
          </a:p>
          <a:p/>
          <a:p>
            <a:r>
              <a:t>Pr. Stelian TOFANĂ</a:t>
            </a:r>
          </a:p>
          <a:p/>
          <a:p>
            <a:r>
              <a:t>Program Biblic</a:t>
            </a:r>
          </a:p>
          <a:p/>
          <a:p>
            <a:r>
              <a:t>Biserica Ortodoxă</a:t>
            </a:r>
          </a:p>
          <a:p>
            <a:r>
              <a:t>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TEXTUL ORIGINAL AL DIAPOZITIVULUI:</a:t>
            </a:r>
          </a:p>
          <a:p>
            <a:r>
              <a:t>	Cuprins</a:t>
            </a:r>
          </a:p>
          <a:p>
            <a:r>
              <a:t>	1. Ce este Biblia?</a:t>
            </a:r>
          </a:p>
          <a:p>
            <a:r>
              <a:t>		a – ”Biblioteca lui Dumnezeu”</a:t>
            </a:r>
          </a:p>
          <a:p>
            <a:r>
              <a:t>		b – Cuvântul lui Dumnezeu</a:t>
            </a:r>
          </a:p>
          <a:p>
            <a:r>
              <a:t>		c – Vorbirea lui Dumnezeu către lume</a:t>
            </a:r>
          </a:p>
          <a:p>
            <a:r>
              <a:t>	2. Biblia – adevăr sau mit?</a:t>
            </a:r>
          </a:p>
          <a:p>
            <a:r>
              <a:t>	4. Cuvântul lui Dumnezeu și societatea modernă</a:t>
            </a:r>
          </a:p>
          <a:p>
            <a:r>
              <a:t>		a. paradoxul contemporan</a:t>
            </a:r>
          </a:p>
          <a:p>
            <a:r>
              <a:t>		b. Cauzele nerodirii cuvântului</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TEXTUL ORIGINAL AL DIAPOZITIVULUI:</a:t>
            </a:r>
          </a:p>
          <a:p>
            <a:r>
              <a:t>	1. Ce este Biblia? </a:t>
            </a:r>
          </a:p>
          <a:p/>
          <a:p>
            <a:r>
              <a:t>		a. ”Biblioteca” - t¦ B…blia = pl – cărțile </a:t>
            </a:r>
          </a:p>
          <a:p/>
          <a:p>
            <a:r>
              <a:t>			Biblioteca lui Dumnezeu</a:t>
            </a:r>
          </a:p>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TEXTUL ORIGINAL AL DIAPOZITIVULUI:</a:t>
            </a:r>
          </a:p>
          <a:p>
            <a:r>
              <a:t>	b. Cuvântul lui Dumnezeu</a:t>
            </a:r>
          </a:p>
          <a:p>
            <a:r>
              <a:t>	</a:t>
            </a:r>
          </a:p>
          <a:p>
            <a:r>
              <a:t>	”Puneți în inima voastră toate cuvintele pe care eu vi le-am spus astăzi și să le lăsați moștenire copiilor voștri, ca să se silească și ei a împlini toate poruncile legii acesteia. </a:t>
            </a:r>
          </a:p>
          <a:p>
            <a:r>
              <a:t>	Căci acestea nu sunt vorbe goale, ci sunt viața voastră și prin acestea vă veți îndelunga zilele (veți trăi ani mulți)” (Deut. 32,46-47)</a:t>
            </a:r>
          </a:p>
          <a:p>
            <a:r>
              <a:t>	</a:t>
            </a:r>
          </a:p>
          <a:p>
            <a:r>
              <a:t>	”Cuvintele pe care Eu vi le-am grăit sunt duh și sunt viață” (In 6,63)</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TEXTUL ORIGINAL AL DIAPOZITIVULUI:</a:t>
            </a:r>
          </a:p>
          <a:p>
            <a:r>
              <a:t>Cea mai impresionantă mărturisire despre importanţa cuvântului lui Dumnezeu, pentru viaţa omenească, este Psalmul 118:</a:t>
            </a:r>
          </a:p>
          <a:p>
            <a:r>
              <a:t>	</a:t>
            </a:r>
          </a:p>
          <a:p>
            <a:r>
              <a:t>	”Se topeşte sufletul meu după cuvântul Tău... Acesta m-a mângăiat  întru necazul meu, pentru că cuvântul Tău m-a făcut viu... Cuvintele gurii Tale sunt mai de preţ decât mii de comori de aur şi de argint... De n-ar fi fost legea Ta gândirea mea, atunci aş fi pierit întru necazul meu... Făclie picioarelor mele sunt cuvintele Tale şi lumină cărărilor mele...” ( Ps. 118, 72. 92. 105)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TEXTUL ORIGINAL AL DIAPOZITIVULUI:</a:t>
            </a:r>
          </a:p>
          <a:p>
            <a:r>
              <a:t>	c. Vorbirea lui Dumnezeu către lume </a:t>
            </a:r>
          </a:p>
          <a:p/>
          <a:p>
            <a:r>
              <a:t>	“După ce Dumnezeu odinioară (p£lai), în multe rânduri şi în multe chipuri (polumerîj kaˆ polutrÒpwj) a vorbit părinţilor noştri prin prooroci, în zilele acestea mai de pe urmă (™p ™sc¦ton tîn ¹merîn ) ne-a grăit - ἐλάλησεν (Heb 1:1 BYZ) (ne vorbește) nouă (¹m‹n ) prin Fiul (™n uiù)” (Evr 1,1).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TEXTUL ORIGINAL AL DIAPOZITIVULUI:</a:t>
            </a:r>
          </a:p>
          <a:p>
            <a:r>
              <a:t>	2. Biblia – adevăr sau mit?</a:t>
            </a:r>
          </a:p>
          <a:p>
            <a:r>
              <a:t> 	</a:t>
            </a:r>
          </a:p>
          <a:p>
            <a:r>
              <a:t>	- O credinţă ca cea a primelor generaţii creştine, care implica o loialitate absolută, chiar cu preţul vieţii, faţă de Mântuitorul Iisus Hristos, nu se putea baza decât pe adevăr şi pe incontestabilitatea faptelor descrise, şi nu pe legende sau date inventate</a:t>
            </a:r>
          </a:p>
          <a:p>
            <a:r>
              <a:t>		</a:t>
            </a:r>
          </a:p>
          <a:p>
            <a:r>
              <a:t>	- jertfele martirilor</a:t>
            </a:r>
          </a:p>
          <a:p>
            <a:r>
              <a:t>		</a:t>
            </a:r>
          </a:p>
          <a:p>
            <a:r>
              <a:t>	- Biserica până azi – la bază cuvântul Scripturii</a:t>
            </a:r>
          </a:p>
          <a:p>
            <a:r>
              <a:t>		</a:t>
            </a:r>
          </a:p>
          <a:p>
            <a:r>
              <a:t>	- Biblia cea mai citită și tradusă carte din lume</a:t>
            </a:r>
          </a:p>
          <a:p>
            <a:r>
              <a:t>			- tradusă în peste 1300 limbi </a:t>
            </a:r>
          </a:p>
          <a:p>
            <a:r>
              <a:t>			- 2025 – peste 4100 traducători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TEXTUL ORIGINAL AL DIAPOZITIVULUI:</a:t>
            </a:r>
          </a:p>
          <a:p>
            <a:r>
              <a:t>	3. Cuvântul lui Dumnezeu și societatea modernă</a:t>
            </a:r>
          </a:p>
          <a:p/>
          <a:p>
            <a:r>
              <a:t>		a. Paradoxul contemporan</a:t>
            </a:r>
          </a:p>
          <a:p>
            <a:r>
              <a:t>	                      cea mai citită carte</a:t>
            </a:r>
          </a:p>
          <a:p>
            <a:r>
              <a:t>	- Biblia</a:t>
            </a:r>
          </a:p>
          <a:p>
            <a:r>
              <a:t>                         cea mai tradusă carte</a:t>
            </a:r>
          </a:p>
          <a:p/>
          <a:p>
            <a:r>
              <a:t>	- fără roade ??!!</a:t>
            </a:r>
          </a:p>
          <a:p>
            <a:r>
              <a:t>	Încercare de răspuns: Pilda semănătorului </a:t>
            </a:r>
          </a:p>
          <a:p>
            <a:r>
              <a:t>(Lc 8,5-15)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TEXTUL ORIGINAL AL DIAPOZITIVULUI:</a:t>
            </a:r>
          </a:p>
          <a:p>
            <a:r>
              <a:t>	b. Cauzele nerodirii cuvântului</a:t>
            </a:r>
          </a:p>
          <a:p>
            <a:r>
              <a:t>	</a:t>
            </a:r>
          </a:p>
          <a:p>
            <a:r>
              <a:t>	 - Abordarea acestuia cu necredință</a:t>
            </a:r>
          </a:p>
          <a:p>
            <a:r>
              <a:t>		- Iisus în Nazaret</a:t>
            </a:r>
          </a:p>
          <a:p/>
          <a:p>
            <a:r>
              <a:t>	”Şi venind în patria Sa îi  învăţa pe ei în sinagoga lor, încât ei erau uimiţi şi ziceau: De unde are El înţelepciunea aceasta şi puterile? Oare nu este acesta fiul teslarului? Au nu se numeşte mama sa Maria şi fraţii Săi Iacob şi Iosif şi Simon şi Iuda şi surorile lui oare nu sunt toate la noi? Deci, de unde are El toate acestea?...  Şi se poticneau întru El... Şi n-a făcut acolo multe minuni, din pricina necredinţei lor” (Mt. 13. 54-58).</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TEXTUL ORIGINAL AL DIAPOZITIVULUI:</a:t>
            </a:r>
          </a:p>
          <a:p>
            <a:r>
              <a:t>	</a:t>
            </a:r>
          </a:p>
          <a:p>
            <a:r>
              <a:t>	 I Tes. 2,15 </a:t>
            </a:r>
          </a:p>
          <a:p/>
          <a:p>
            <a:r>
              <a:t>	”Cuvântul lui Dumnezeu lucrează ( ˜nergeita… ) în voi, cei ce credeţi (™n Ømin to‹j pisteÚonsin )</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TEXTUL ORIGINAL AL DIAPOZITIVULUI:</a:t>
            </a:r>
          </a:p>
          <a:p>
            <a:r>
              <a:t>	- Separarea cuvântului lui Dumnezeu de Euharistie (Liturghie)</a:t>
            </a:r>
          </a:p>
          <a:p>
            <a:r>
              <a:t>	</a:t>
            </a:r>
          </a:p>
          <a:p>
            <a:r>
              <a:t>Fer. Ieronim (sec. 4-5) </a:t>
            </a:r>
          </a:p>
          <a:p>
            <a:r>
              <a:t>		“Noi mâncăm şi bem trupul şi sângele Său în dumnezeiasca Euharistie, dar şi în lectura Scripturilor”.</a:t>
            </a:r>
          </a:p>
          <a:p/>
          <a:p>
            <a:r>
              <a:t>Origen (sec. 3)</a:t>
            </a:r>
          </a:p>
          <a:p>
            <a:r>
              <a:t>	“Dacă pentru trupul şi sângele Mântuitorului manifestăm o grijă deosebită ca nu cumva vreo fărâmitură să cadă pe jos şi să o pierdem, atunci aceeaşi grijă datorăm şi faţă de cuvintele lui Hristos din Scriptură, pentru că păcatul este acelaşi în cazul pierderii”.</a:t>
            </a:r>
          </a:p>
          <a:p/>
          <a:p>
            <a:r>
              <a:t>”Hristosul Cuvântului” se descoperă deplin numai în ”Hristosul euharistic”</a:t>
            </a:r>
          </a:p>
          <a:p/>
          <a:p>
            <a:r>
              <a:t>	- Descoperirea de la Emaus (Lc. 24)</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TEXTUL ORIGINAL AL DIAPOZITIVULUI:</a:t>
            </a:r>
          </a:p>
          <a:p>
            <a:r>
              <a:t>	- Neimplicarea vieții personale în cuvânt</a:t>
            </a:r>
          </a:p>
          <a:p/>
          <a:p>
            <a:r>
              <a:t>David și Natan (2 Regi 12, 1-5. 7. 9-10. 12-13)</a:t>
            </a:r>
          </a:p>
          <a:p/>
          <a:p/>
          <a:p>
            <a:r>
              <a:t>	                   când știa numai = prigonea </a:t>
            </a:r>
          </a:p>
          <a:p>
            <a:r>
              <a:t>Saul</a:t>
            </a:r>
          </a:p>
          <a:p>
            <a:r>
              <a:t>                   când l-a trăit pe Iisus = exclamă:  ”De acum nu mai trăiesc eu, ci Hristos trăieşte în mine” (Gal. 2, 20)</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TEXTUL ORIGINAL AL DIAPOZITIVULUI:</a:t>
            </a:r>
          </a:p>
          <a:p>
            <a:r>
              <a:t>  EU</a:t>
            </a:r>
          </a:p>
          <a:p/>
          <a:p>
            <a:r>
              <a:t>Biblia</a:t>
            </a:r>
          </a:p>
          <a:p/>
          <a:p>
            <a:r>
              <a:t>Biblia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TEXTUL ORIGINAL AL DIAPOZITIVULUI:</a:t>
            </a:r>
          </a:p>
          <a:p>
            <a:r>
              <a:t>Biblia</a:t>
            </a:r>
          </a:p>
          <a:p/>
          <a:p>
            <a:r>
              <a:t>EU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TEXTUL ORIGINAL AL DIAPOZITIVULUI:</a:t>
            </a:r>
          </a:p>
          <a:p/>
          <a:p>
            <a:r>
              <a:t>	”Biblia e singura carte care cere un răspuns !” </a:t>
            </a:r>
          </a:p>
          <a:p/>
          <a:p>
            <a:r>
              <a:t>	</a:t>
            </a:r>
          </a:p>
          <a:p>
            <a:r>
              <a:t>		Ai dat un răspuns?</a:t>
            </a:r>
          </a:p>
          <a:p/>
          <a:p>
            <a:r>
              <a:t>		Ai un răspuns?</a:t>
            </a:r>
          </a:p>
          <a:p/>
          <a:p/>
          <a:p>
            <a:r>
              <a:t>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TEXTUL ORIGINAL AL DIAPOZITIVULUI:</a:t>
            </a:r>
          </a:p>
          <a:p>
            <a:r>
              <a:t>Vă   mulțumesc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3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438912"/>
            <a:ext cx="484632" cy="36576"/>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73952"/>
            <a:ext cx="10789920" cy="1463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366760" y="0"/>
            <a:ext cx="3822191" cy="6858000"/>
          </a:xfrm>
          <a:prstGeom prst="rect">
            <a:avLst/>
          </a:prstGeom>
          <a:solidFill>
            <a:srgbClr val="702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549640" y="960120"/>
            <a:ext cx="3017520" cy="3017520"/>
          </a:xfrm>
          <a:prstGeom prst="ellipse">
            <a:avLst/>
          </a:prstGeom>
          <a:solidFill>
            <a:srgbClr val="793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805672" y="1298448"/>
            <a:ext cx="3017520" cy="3017520"/>
          </a:xfrm>
          <a:prstGeom prst="ellipse">
            <a:avLst/>
          </a:prstGeom>
          <a:solidFill>
            <a:srgbClr val="873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61704" y="1636776"/>
            <a:ext cx="3017520" cy="3017520"/>
          </a:xfrm>
          <a:prstGeom prst="ellipse">
            <a:avLst/>
          </a:prstGeom>
          <a:solidFill>
            <a:srgbClr val="793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317736" y="1975104"/>
            <a:ext cx="3017520" cy="3017520"/>
          </a:xfrm>
          <a:prstGeom prst="ellipse">
            <a:avLst/>
          </a:prstGeom>
          <a:solidFill>
            <a:srgbClr val="873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7589520" cy="1691640"/>
          </a:xfrm>
          <a:prstGeom prst="rect">
            <a:avLst/>
          </a:prstGeom>
          <a:noFill/>
        </p:spPr>
        <p:txBody>
          <a:bodyPr wrap="square" lIns="22860" tIns="9144" rIns="22860" bIns="0">
            <a:spAutoFit/>
          </a:bodyPr>
          <a:lstStyle/>
          <a:p>
            <a:pPr>
              <a:spcAft>
                <a:spcPts val="300"/>
              </a:spcAft>
            </a:pPr>
            <a:r>
              <a:rPr sz="4400" b="1">
                <a:solidFill>
                  <a:srgbClr val="FFFCF7"/>
                </a:solidFill>
                <a:latin typeface="Georgia"/>
              </a:rPr>
              <a:t>Să citim și să învățăm Biblia!</a:t>
            </a:r>
          </a:p>
        </p:txBody>
      </p:sp>
      <p:sp>
        <p:nvSpPr>
          <p:cNvPr id="12" name="TextBox 11"/>
          <p:cNvSpPr txBox="1"/>
          <p:nvPr/>
        </p:nvSpPr>
        <p:spPr>
          <a:xfrm>
            <a:off x="822960" y="3776472"/>
            <a:ext cx="6949440" cy="1051560"/>
          </a:xfrm>
          <a:prstGeom prst="rect">
            <a:avLst/>
          </a:prstGeom>
          <a:noFill/>
        </p:spPr>
        <p:txBody>
          <a:bodyPr wrap="square" lIns="22860" tIns="9144" rIns="22860" bIns="0">
            <a:spAutoFit/>
          </a:bodyPr>
          <a:lstStyle/>
          <a:p>
            <a:pPr>
              <a:spcAft>
                <a:spcPts val="300"/>
              </a:spcAft>
            </a:pPr>
            <a:r>
              <a:rPr sz="2400" b="0">
                <a:solidFill>
                  <a:srgbClr val="F0D8C3"/>
                </a:solidFill>
                <a:latin typeface="Georgia"/>
              </a:rPr>
              <a:t>Ce este Biblia?</a:t>
            </a:r>
          </a:p>
          <a:p>
            <a:pPr>
              <a:spcAft>
                <a:spcPts val="300"/>
              </a:spcAft>
            </a:pPr>
            <a:r>
              <a:rPr sz="2400" b="0">
                <a:solidFill>
                  <a:srgbClr val="F0D8C3"/>
                </a:solidFill>
                <a:latin typeface="Georgia"/>
              </a:rPr>
              <a:t>De ce trebuie să o citim?</a:t>
            </a:r>
          </a:p>
        </p:txBody>
      </p:sp>
      <p:sp>
        <p:nvSpPr>
          <p:cNvPr id="13" name="TextBox 12"/>
          <p:cNvSpPr txBox="1"/>
          <p:nvPr/>
        </p:nvSpPr>
        <p:spPr>
          <a:xfrm>
            <a:off x="832104" y="5230368"/>
            <a:ext cx="5760720" cy="384048"/>
          </a:xfrm>
          <a:prstGeom prst="rect">
            <a:avLst/>
          </a:prstGeom>
          <a:noFill/>
        </p:spPr>
        <p:txBody>
          <a:bodyPr wrap="square" lIns="22860" tIns="9144" rIns="22860" bIns="0">
            <a:spAutoFit/>
          </a:bodyPr>
          <a:lstStyle/>
          <a:p>
            <a:pPr>
              <a:spcAft>
                <a:spcPts val="300"/>
              </a:spcAft>
            </a:pPr>
            <a:r>
              <a:rPr sz="1800" b="1">
                <a:solidFill>
                  <a:srgbClr val="FFFCF7"/>
                </a:solidFill>
                <a:latin typeface="Aptos"/>
              </a:rPr>
              <a:t>Pr. Stelian TOFANĂ</a:t>
            </a:r>
          </a:p>
        </p:txBody>
      </p:sp>
      <p:sp>
        <p:nvSpPr>
          <p:cNvPr id="14" name="TextBox 13"/>
          <p:cNvSpPr txBox="1"/>
          <p:nvPr/>
        </p:nvSpPr>
        <p:spPr>
          <a:xfrm>
            <a:off x="832104" y="5650992"/>
            <a:ext cx="5760720" cy="274320"/>
          </a:xfrm>
          <a:prstGeom prst="rect">
            <a:avLst/>
          </a:prstGeom>
          <a:noFill/>
        </p:spPr>
        <p:txBody>
          <a:bodyPr wrap="square" lIns="22860" tIns="9144" rIns="22860" bIns="0">
            <a:spAutoFit/>
          </a:bodyPr>
          <a:lstStyle/>
          <a:p>
            <a:pPr>
              <a:spcAft>
                <a:spcPts val="300"/>
              </a:spcAft>
            </a:pPr>
            <a:r>
              <a:rPr sz="1500" b="0">
                <a:solidFill>
                  <a:srgbClr val="F0D8C3"/>
                </a:solidFill>
                <a:latin typeface="Aptos"/>
              </a:rPr>
              <a:t>Program Biblic</a:t>
            </a:r>
          </a:p>
        </p:txBody>
      </p:sp>
      <p:sp>
        <p:nvSpPr>
          <p:cNvPr id="15" name="TextBox 14"/>
          <p:cNvSpPr txBox="1"/>
          <p:nvPr/>
        </p:nvSpPr>
        <p:spPr>
          <a:xfrm>
            <a:off x="8732520" y="5285232"/>
            <a:ext cx="2926080" cy="822960"/>
          </a:xfrm>
          <a:prstGeom prst="rect">
            <a:avLst/>
          </a:prstGeom>
          <a:noFill/>
        </p:spPr>
        <p:txBody>
          <a:bodyPr wrap="square" lIns="22860" tIns="9144" rIns="22860" bIns="0">
            <a:spAutoFit/>
          </a:bodyPr>
          <a:lstStyle/>
          <a:p>
            <a:pPr>
              <a:spcAft>
                <a:spcPts val="300"/>
              </a:spcAft>
            </a:pPr>
            <a:r>
              <a:rPr sz="1100" b="0">
                <a:solidFill>
                  <a:srgbClr val="FFFCF7"/>
                </a:solidFill>
                <a:latin typeface="Aptos"/>
              </a:rPr>
              <a:t>Biserica Ortodoxă</a:t>
            </a:r>
          </a:p>
          <a:p>
            <a:pPr>
              <a:spcAft>
                <a:spcPts val="300"/>
              </a:spcAft>
            </a:pPr>
            <a:r>
              <a:rPr sz="1100" b="0">
                <a:solidFill>
                  <a:srgbClr val="FFFCF7"/>
                </a:solidFill>
                <a:latin typeface="Aptos"/>
              </a:rP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702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438912"/>
            <a:ext cx="484632" cy="36576"/>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73952"/>
            <a:ext cx="10789920" cy="1463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914400"/>
            <a:ext cx="10789920" cy="1078992"/>
          </a:xfrm>
          <a:prstGeom prst="rect">
            <a:avLst/>
          </a:prstGeom>
          <a:noFill/>
        </p:spPr>
        <p:txBody>
          <a:bodyPr wrap="square" lIns="22860" tIns="9144" rIns="22860" bIns="0">
            <a:spAutoFit/>
          </a:bodyPr>
          <a:lstStyle/>
          <a:p>
            <a:pPr>
              <a:spcAft>
                <a:spcPts val="300"/>
              </a:spcAft>
            </a:pPr>
            <a:r>
              <a:rPr sz="3200" b="1">
                <a:solidFill>
                  <a:srgbClr val="23363A"/>
                </a:solidFill>
                <a:latin typeface="Georgia"/>
              </a:rPr>
              <a:t>Cuprins</a:t>
            </a:r>
          </a:p>
        </p:txBody>
      </p:sp>
      <p:sp>
        <p:nvSpPr>
          <p:cNvPr id="7" name="Rectangle 6"/>
          <p:cNvSpPr/>
          <p:nvPr/>
        </p:nvSpPr>
        <p:spPr>
          <a:xfrm>
            <a:off x="786384" y="2002536"/>
            <a:ext cx="1005840" cy="32004"/>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258568"/>
            <a:ext cx="10744200" cy="3639312"/>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258568"/>
            <a:ext cx="64008" cy="3639312"/>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606040"/>
            <a:ext cx="10021824" cy="3227832"/>
          </a:xfrm>
          <a:prstGeom prst="rect">
            <a:avLst/>
          </a:prstGeom>
          <a:noFill/>
        </p:spPr>
        <p:txBody>
          <a:bodyPr wrap="square" lIns="22860" tIns="9144" rIns="22860" bIns="0">
            <a:spAutoFit/>
          </a:bodyPr>
          <a:lstStyle/>
          <a:p>
            <a:pPr>
              <a:spcAft>
                <a:spcPts val="300"/>
              </a:spcAft>
            </a:pPr>
            <a:r>
              <a:rPr sz="2000" b="0">
                <a:solidFill>
                  <a:srgbClr val="23363A"/>
                </a:solidFill>
                <a:latin typeface="Aptos"/>
              </a:rPr>
              <a:t>1. Ce este Biblia?</a:t>
            </a:r>
          </a:p>
          <a:p>
            <a:pPr>
              <a:spcAft>
                <a:spcPts val="300"/>
              </a:spcAft>
            </a:pPr>
            <a:r>
              <a:rPr sz="2000" b="0">
                <a:solidFill>
                  <a:srgbClr val="23363A"/>
                </a:solidFill>
                <a:latin typeface="Aptos"/>
              </a:rPr>
              <a:t>a – ”Biblioteca lui Dumnezeu”</a:t>
            </a:r>
          </a:p>
          <a:p>
            <a:pPr>
              <a:spcAft>
                <a:spcPts val="300"/>
              </a:spcAft>
            </a:pPr>
            <a:r>
              <a:rPr sz="2000" b="0">
                <a:solidFill>
                  <a:srgbClr val="23363A"/>
                </a:solidFill>
                <a:latin typeface="Aptos"/>
              </a:rPr>
              <a:t>b – Cuvântul lui Dumnezeu</a:t>
            </a:r>
          </a:p>
          <a:p>
            <a:pPr>
              <a:spcAft>
                <a:spcPts val="300"/>
              </a:spcAft>
            </a:pPr>
            <a:r>
              <a:rPr sz="2000" b="0">
                <a:solidFill>
                  <a:srgbClr val="23363A"/>
                </a:solidFill>
                <a:latin typeface="Aptos"/>
              </a:rPr>
              <a:t>c – Vorbirea lui Dumnezeu către lume</a:t>
            </a:r>
          </a:p>
          <a:p>
            <a:pPr>
              <a:spcAft>
                <a:spcPts val="300"/>
              </a:spcAft>
            </a:pPr>
            <a:r>
              <a:rPr sz="2000" b="0">
                <a:solidFill>
                  <a:srgbClr val="23363A"/>
                </a:solidFill>
                <a:latin typeface="Aptos"/>
              </a:rPr>
              <a:t>2. Biblia – adevăr sau mit?</a:t>
            </a:r>
          </a:p>
          <a:p>
            <a:pPr>
              <a:spcAft>
                <a:spcPts val="300"/>
              </a:spcAft>
            </a:pPr>
            <a:r>
              <a:rPr sz="2000" b="0">
                <a:solidFill>
                  <a:srgbClr val="23363A"/>
                </a:solidFill>
                <a:latin typeface="Aptos"/>
              </a:rPr>
              <a:t>4. Cuvântul lui Dumnezeu și societatea modernă</a:t>
            </a:r>
          </a:p>
          <a:p>
            <a:pPr>
              <a:spcAft>
                <a:spcPts val="300"/>
              </a:spcAft>
            </a:pPr>
            <a:r>
              <a:rPr sz="2000" b="0">
                <a:solidFill>
                  <a:srgbClr val="23363A"/>
                </a:solidFill>
                <a:latin typeface="Aptos"/>
              </a:rPr>
              <a:t>a. paradoxul contemporan</a:t>
            </a:r>
          </a:p>
          <a:p>
            <a:pPr>
              <a:spcAft>
                <a:spcPts val="300"/>
              </a:spcAft>
            </a:pPr>
            <a:r>
              <a:rPr sz="2000" b="0">
                <a:solidFill>
                  <a:srgbClr val="23363A"/>
                </a:solidFill>
                <a:latin typeface="Aptos"/>
              </a:rPr>
              <a:t>b. Cauzele nerodirii cuvântului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702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438912"/>
            <a:ext cx="484632" cy="36576"/>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73952"/>
            <a:ext cx="10789920" cy="1463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914400"/>
            <a:ext cx="10789920" cy="1078992"/>
          </a:xfrm>
          <a:prstGeom prst="rect">
            <a:avLst/>
          </a:prstGeom>
          <a:noFill/>
        </p:spPr>
        <p:txBody>
          <a:bodyPr wrap="square" lIns="22860" tIns="9144" rIns="22860" bIns="0">
            <a:spAutoFit/>
          </a:bodyPr>
          <a:lstStyle/>
          <a:p>
            <a:pPr>
              <a:spcAft>
                <a:spcPts val="300"/>
              </a:spcAft>
            </a:pPr>
            <a:r>
              <a:rPr sz="3200" b="1">
                <a:solidFill>
                  <a:srgbClr val="23363A"/>
                </a:solidFill>
                <a:latin typeface="Georgia"/>
              </a:rPr>
              <a:t>1. Ce este Biblia?</a:t>
            </a:r>
          </a:p>
        </p:txBody>
      </p:sp>
      <p:sp>
        <p:nvSpPr>
          <p:cNvPr id="7" name="Rectangle 6"/>
          <p:cNvSpPr/>
          <p:nvPr/>
        </p:nvSpPr>
        <p:spPr>
          <a:xfrm>
            <a:off x="786384" y="2002536"/>
            <a:ext cx="1005840" cy="32004"/>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258568"/>
            <a:ext cx="10744200" cy="3639312"/>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258568"/>
            <a:ext cx="64008" cy="3639312"/>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606040"/>
            <a:ext cx="10021824" cy="3227832"/>
          </a:xfrm>
          <a:prstGeom prst="rect">
            <a:avLst/>
          </a:prstGeom>
          <a:noFill/>
        </p:spPr>
        <p:txBody>
          <a:bodyPr wrap="square" lIns="22860" tIns="9144" rIns="22860" bIns="0">
            <a:spAutoFit/>
          </a:bodyPr>
          <a:lstStyle/>
          <a:p>
            <a:pPr>
              <a:spcAft>
                <a:spcPts val="300"/>
              </a:spcAft>
            </a:pPr>
            <a:r>
              <a:rPr sz="2800" b="0">
                <a:solidFill>
                  <a:srgbClr val="23363A"/>
                </a:solidFill>
                <a:latin typeface="Aptos"/>
              </a:rPr>
              <a:t>a. ”Biblioteca” - t¦ B…blia = pl – cărțile</a:t>
            </a:r>
          </a:p>
          <a:p>
            <a:pPr>
              <a:spcAft>
                <a:spcPts val="300"/>
              </a:spcAft>
            </a:pPr>
            <a:r>
              <a:rPr sz="2800" b="0">
                <a:solidFill>
                  <a:srgbClr val="23363A"/>
                </a:solidFill>
                <a:latin typeface="Aptos"/>
              </a:rPr>
              <a:t>Biblioteca lui Dumnezeu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702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438912"/>
            <a:ext cx="484632" cy="36576"/>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73952"/>
            <a:ext cx="10789920" cy="1463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914400"/>
            <a:ext cx="10789920" cy="1078992"/>
          </a:xfrm>
          <a:prstGeom prst="rect">
            <a:avLst/>
          </a:prstGeom>
          <a:noFill/>
        </p:spPr>
        <p:txBody>
          <a:bodyPr wrap="square" lIns="22860" tIns="9144" rIns="22860" bIns="0">
            <a:spAutoFit/>
          </a:bodyPr>
          <a:lstStyle/>
          <a:p>
            <a:pPr>
              <a:spcAft>
                <a:spcPts val="300"/>
              </a:spcAft>
            </a:pPr>
            <a:r>
              <a:rPr sz="3200" b="1">
                <a:solidFill>
                  <a:srgbClr val="23363A"/>
                </a:solidFill>
                <a:latin typeface="Georgia"/>
              </a:rPr>
              <a:t>b. Cuvântul lui Dumnezeu</a:t>
            </a:r>
          </a:p>
        </p:txBody>
      </p:sp>
      <p:sp>
        <p:nvSpPr>
          <p:cNvPr id="7" name="Rectangle 6"/>
          <p:cNvSpPr/>
          <p:nvPr/>
        </p:nvSpPr>
        <p:spPr>
          <a:xfrm>
            <a:off x="786384" y="2002536"/>
            <a:ext cx="1005840" cy="32004"/>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258568"/>
            <a:ext cx="10744200" cy="3639312"/>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258568"/>
            <a:ext cx="64008" cy="3639312"/>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606040"/>
            <a:ext cx="10021824" cy="3227832"/>
          </a:xfrm>
          <a:prstGeom prst="rect">
            <a:avLst/>
          </a:prstGeom>
          <a:noFill/>
        </p:spPr>
        <p:txBody>
          <a:bodyPr wrap="square" lIns="22860" tIns="9144" rIns="22860" bIns="0">
            <a:spAutoFit/>
          </a:bodyPr>
          <a:lstStyle/>
          <a:p>
            <a:pPr>
              <a:spcAft>
                <a:spcPts val="300"/>
              </a:spcAft>
            </a:pPr>
            <a:r>
              <a:rPr sz="1700" b="0">
                <a:solidFill>
                  <a:srgbClr val="23363A"/>
                </a:solidFill>
                <a:latin typeface="Aptos"/>
              </a:rPr>
              <a:t>”Puneți în inima voastră toate cuvintele pe care eu vi le-am spus astăzi și să le lăsați moștenire copiilor voștri, ca să se silească și ei a împlini toate poruncile legii acesteia.</a:t>
            </a:r>
          </a:p>
          <a:p>
            <a:pPr>
              <a:spcAft>
                <a:spcPts val="300"/>
              </a:spcAft>
            </a:pPr>
            <a:r>
              <a:rPr sz="1700" b="0">
                <a:solidFill>
                  <a:srgbClr val="23363A"/>
                </a:solidFill>
                <a:latin typeface="Aptos"/>
              </a:rPr>
              <a:t>Căci acestea nu sunt vorbe goale, ci sunt viața voastră și prin acestea vă veți îndelunga zilele (veți trăi ani mulți)” (Deut. 32,46-47)</a:t>
            </a:r>
          </a:p>
          <a:p>
            <a:pPr>
              <a:spcAft>
                <a:spcPts val="300"/>
              </a:spcAft>
            </a:pPr>
            <a:r>
              <a:rPr sz="1700" b="0">
                <a:solidFill>
                  <a:srgbClr val="23363A"/>
                </a:solidFill>
                <a:latin typeface="Aptos"/>
              </a:rPr>
              <a:t>”Cuvintele pe care Eu vi le-am grăit sunt duh și sunt viață” (In 6,63)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702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438912"/>
            <a:ext cx="484632" cy="36576"/>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73952"/>
            <a:ext cx="10789920" cy="1463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17320"/>
            <a:ext cx="10744200" cy="448056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17320"/>
            <a:ext cx="64008" cy="448056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764792"/>
            <a:ext cx="10021824" cy="4069080"/>
          </a:xfrm>
          <a:prstGeom prst="rect">
            <a:avLst/>
          </a:prstGeom>
          <a:noFill/>
        </p:spPr>
        <p:txBody>
          <a:bodyPr wrap="square" lIns="22860" tIns="9144" rIns="22860" bIns="0">
            <a:spAutoFit/>
          </a:bodyPr>
          <a:lstStyle/>
          <a:p>
            <a:pPr>
              <a:spcAft>
                <a:spcPts val="300"/>
              </a:spcAft>
            </a:pPr>
            <a:r>
              <a:rPr sz="1900" b="0">
                <a:solidFill>
                  <a:srgbClr val="23363A"/>
                </a:solidFill>
                <a:latin typeface="Georgia"/>
              </a:rPr>
              <a:t>Cea mai impresionantă mărturisire despre importanţa cuvântului lui Dumnezeu, pentru viaţa omenească, este Psalmul 118:</a:t>
            </a:r>
          </a:p>
          <a:p>
            <a:pPr>
              <a:spcAft>
                <a:spcPts val="300"/>
              </a:spcAft>
            </a:pPr>
            <a:r>
              <a:rPr sz="1900" b="0">
                <a:solidFill>
                  <a:srgbClr val="23363A"/>
                </a:solidFill>
                <a:latin typeface="Georgia"/>
              </a:rPr>
              <a:t>”Se topeşte sufletul meu după cuvântul Tău... Acesta m-a mângăiat  întru necazul meu, pentru că cuvântul Tău m-a făcut viu... Cuvintele gurii Tale sunt mai de preţ decât mii de comori de aur şi de argint... De n-ar fi fost legea Ta gândirea mea, atunci aş fi pierit întru necazul meu... Făclie picioarelor mele sunt cuvintele Tale şi lumină cărărilor mele...” ( Ps. 118, 72. 92. 105)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702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438912"/>
            <a:ext cx="484632" cy="36576"/>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73952"/>
            <a:ext cx="10789920" cy="1463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914400"/>
            <a:ext cx="10789920" cy="1078992"/>
          </a:xfrm>
          <a:prstGeom prst="rect">
            <a:avLst/>
          </a:prstGeom>
          <a:noFill/>
        </p:spPr>
        <p:txBody>
          <a:bodyPr wrap="square" lIns="22860" tIns="9144" rIns="22860" bIns="0">
            <a:spAutoFit/>
          </a:bodyPr>
          <a:lstStyle/>
          <a:p>
            <a:pPr>
              <a:spcAft>
                <a:spcPts val="300"/>
              </a:spcAft>
            </a:pPr>
            <a:r>
              <a:rPr sz="3200" b="1">
                <a:solidFill>
                  <a:srgbClr val="23363A"/>
                </a:solidFill>
                <a:latin typeface="Georgia"/>
              </a:rPr>
              <a:t>c. Vorbirea lui Dumnezeu către lume</a:t>
            </a:r>
          </a:p>
        </p:txBody>
      </p:sp>
      <p:sp>
        <p:nvSpPr>
          <p:cNvPr id="7" name="Rectangle 6"/>
          <p:cNvSpPr/>
          <p:nvPr/>
        </p:nvSpPr>
        <p:spPr>
          <a:xfrm>
            <a:off x="786384" y="2002536"/>
            <a:ext cx="1005840" cy="32004"/>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258568"/>
            <a:ext cx="10744200" cy="3639312"/>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258568"/>
            <a:ext cx="64008" cy="3639312"/>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606040"/>
            <a:ext cx="10021824" cy="3227832"/>
          </a:xfrm>
          <a:prstGeom prst="rect">
            <a:avLst/>
          </a:prstGeom>
          <a:noFill/>
        </p:spPr>
        <p:txBody>
          <a:bodyPr wrap="square" lIns="22860" tIns="9144" rIns="22860" bIns="0">
            <a:spAutoFit/>
          </a:bodyPr>
          <a:lstStyle/>
          <a:p>
            <a:pPr>
              <a:spcAft>
                <a:spcPts val="300"/>
              </a:spcAft>
            </a:pPr>
            <a:r>
              <a:rPr sz="1700" b="0">
                <a:solidFill>
                  <a:srgbClr val="23363A"/>
                </a:solidFill>
                <a:latin typeface="Aptos"/>
              </a:rPr>
              <a:t>“După ce Dumnezeu odinioară (p£lai), în multe rânduri şi în multe chipuri (polumerîj kaˆ polutrÒpwj) a vorbit părinţilor noştri prin prooroci, în zilele acestea mai de pe urmă (™p ™sc¦ton tîn ¹merîn ) ne-a grăit - ἐλάλησεν (Heb 1:1 BYZ) (ne vorbește) nouă (¹m‹n ) prin Fiul (™n uiù)” (Evr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702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438912"/>
            <a:ext cx="484632" cy="36576"/>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73952"/>
            <a:ext cx="10789920" cy="1463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914400"/>
            <a:ext cx="10789920" cy="1078992"/>
          </a:xfrm>
          <a:prstGeom prst="rect">
            <a:avLst/>
          </a:prstGeom>
          <a:noFill/>
        </p:spPr>
        <p:txBody>
          <a:bodyPr wrap="square" lIns="22860" tIns="9144" rIns="22860" bIns="0">
            <a:spAutoFit/>
          </a:bodyPr>
          <a:lstStyle/>
          <a:p>
            <a:pPr>
              <a:spcAft>
                <a:spcPts val="300"/>
              </a:spcAft>
            </a:pPr>
            <a:r>
              <a:rPr sz="3200" b="1">
                <a:solidFill>
                  <a:srgbClr val="23363A"/>
                </a:solidFill>
                <a:latin typeface="Georgia"/>
              </a:rPr>
              <a:t>2. Biblia – adevăr sau mit?</a:t>
            </a:r>
          </a:p>
        </p:txBody>
      </p:sp>
      <p:sp>
        <p:nvSpPr>
          <p:cNvPr id="7" name="Rectangle 6"/>
          <p:cNvSpPr/>
          <p:nvPr/>
        </p:nvSpPr>
        <p:spPr>
          <a:xfrm>
            <a:off x="786384" y="2002536"/>
            <a:ext cx="1005840" cy="32004"/>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258568"/>
            <a:ext cx="10744200" cy="3639312"/>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258568"/>
            <a:ext cx="64008" cy="3639312"/>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606040"/>
            <a:ext cx="10021824" cy="3227832"/>
          </a:xfrm>
          <a:prstGeom prst="rect">
            <a:avLst/>
          </a:prstGeom>
          <a:noFill/>
        </p:spPr>
        <p:txBody>
          <a:bodyPr wrap="square" lIns="22860" tIns="9144" rIns="22860" bIns="0">
            <a:spAutoFit/>
          </a:bodyPr>
          <a:lstStyle/>
          <a:p>
            <a:pPr>
              <a:spcAft>
                <a:spcPts val="300"/>
              </a:spcAft>
            </a:pPr>
            <a:r>
              <a:rPr sz="1700" b="0">
                <a:solidFill>
                  <a:srgbClr val="23363A"/>
                </a:solidFill>
                <a:latin typeface="Aptos"/>
              </a:rPr>
              <a:t>- O credinţă ca cea a primelor generaţii creştine, care implica o loialitate absolută, chiar cu preţul vieţii, faţă de Mântuitorul Iisus Hristos, nu se putea baza decât pe adevăr şi pe incontestabilitatea faptelor descrise, şi nu pe legende sau date inventate</a:t>
            </a:r>
          </a:p>
          <a:p>
            <a:pPr>
              <a:spcAft>
                <a:spcPts val="300"/>
              </a:spcAft>
            </a:pPr>
            <a:r>
              <a:rPr sz="1700" b="0">
                <a:solidFill>
                  <a:srgbClr val="23363A"/>
                </a:solidFill>
                <a:latin typeface="Aptos"/>
              </a:rPr>
              <a:t>- jertfele martirilor</a:t>
            </a:r>
          </a:p>
          <a:p>
            <a:pPr>
              <a:spcAft>
                <a:spcPts val="300"/>
              </a:spcAft>
            </a:pPr>
            <a:r>
              <a:rPr sz="1700" b="0">
                <a:solidFill>
                  <a:srgbClr val="23363A"/>
                </a:solidFill>
                <a:latin typeface="Aptos"/>
              </a:rPr>
              <a:t>- Biserica până azi – la bază cuvântul Scripturii</a:t>
            </a:r>
          </a:p>
          <a:p>
            <a:pPr>
              <a:spcAft>
                <a:spcPts val="300"/>
              </a:spcAft>
            </a:pPr>
            <a:r>
              <a:rPr sz="1700" b="0">
                <a:solidFill>
                  <a:srgbClr val="23363A"/>
                </a:solidFill>
                <a:latin typeface="Aptos"/>
              </a:rPr>
              <a:t>- Biblia cea mai citită și tradusă carte din lume</a:t>
            </a:r>
          </a:p>
          <a:p>
            <a:pPr>
              <a:spcAft>
                <a:spcPts val="300"/>
              </a:spcAft>
            </a:pPr>
            <a:r>
              <a:rPr sz="1700" b="0">
                <a:solidFill>
                  <a:srgbClr val="23363A"/>
                </a:solidFill>
                <a:latin typeface="Aptos"/>
              </a:rPr>
              <a:t>- tradusă în peste 1300 limbi</a:t>
            </a:r>
          </a:p>
          <a:p>
            <a:pPr>
              <a:spcAft>
                <a:spcPts val="300"/>
              </a:spcAft>
            </a:pPr>
            <a:r>
              <a:rPr sz="1700" b="0">
                <a:solidFill>
                  <a:srgbClr val="23363A"/>
                </a:solidFill>
                <a:latin typeface="Aptos"/>
              </a:rPr>
              <a:t>- 2025 – peste 4100 traducători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3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438912"/>
            <a:ext cx="484632" cy="36576"/>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73952"/>
            <a:ext cx="10789920" cy="1463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914400"/>
            <a:ext cx="10789920" cy="1078992"/>
          </a:xfrm>
          <a:prstGeom prst="rect">
            <a:avLst/>
          </a:prstGeom>
          <a:noFill/>
        </p:spPr>
        <p:txBody>
          <a:bodyPr wrap="square" lIns="22860" tIns="9144" rIns="22860" bIns="0">
            <a:spAutoFit/>
          </a:bodyPr>
          <a:lstStyle/>
          <a:p>
            <a:pPr>
              <a:spcAft>
                <a:spcPts val="300"/>
              </a:spcAft>
            </a:pPr>
            <a:r>
              <a:rPr sz="3200" b="1">
                <a:solidFill>
                  <a:srgbClr val="FFFCF7"/>
                </a:solidFill>
                <a:latin typeface="Georgia"/>
              </a:rPr>
              <a:t>3. Cuvântul lui Dumnezeu și societatea modernă</a:t>
            </a:r>
          </a:p>
        </p:txBody>
      </p:sp>
      <p:sp>
        <p:nvSpPr>
          <p:cNvPr id="7" name="Rectangle 6"/>
          <p:cNvSpPr/>
          <p:nvPr/>
        </p:nvSpPr>
        <p:spPr>
          <a:xfrm>
            <a:off x="786384" y="2002536"/>
            <a:ext cx="1005840" cy="32004"/>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258568"/>
            <a:ext cx="10744200" cy="3794760"/>
          </a:xfrm>
          <a:prstGeom prst="rect">
            <a:avLst/>
          </a:prstGeom>
          <a:solidFill>
            <a:srgbClr val="324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258568"/>
            <a:ext cx="64008" cy="3639312"/>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606040"/>
            <a:ext cx="10021824" cy="3227832"/>
          </a:xfrm>
          <a:prstGeom prst="rect">
            <a:avLst/>
          </a:prstGeom>
          <a:noFill/>
        </p:spPr>
        <p:txBody>
          <a:bodyPr wrap="square" lIns="22860" tIns="9144" rIns="22860" bIns="0">
            <a:spAutoFit/>
          </a:bodyPr>
          <a:lstStyle/>
          <a:p>
            <a:pPr>
              <a:spcAft>
                <a:spcPts val="300"/>
              </a:spcAft>
            </a:pPr>
            <a:r>
              <a:rPr sz="2100" b="0">
                <a:solidFill>
                  <a:srgbClr val="23363A"/>
                </a:solidFill>
                <a:latin typeface="Aptos"/>
              </a:rPr>
              <a:t>a. Paradoxul contemporan</a:t>
            </a:r>
          </a:p>
          <a:p>
            <a:pPr>
              <a:spcAft>
                <a:spcPts val="300"/>
              </a:spcAft>
            </a:pPr>
            <a:r>
              <a:rPr sz="2100" b="0">
                <a:solidFill>
                  <a:srgbClr val="23363A"/>
                </a:solidFill>
                <a:latin typeface="Aptos"/>
              </a:rPr>
              <a:t>cea mai citită carte</a:t>
            </a:r>
          </a:p>
          <a:p>
            <a:pPr>
              <a:spcAft>
                <a:spcPts val="300"/>
              </a:spcAft>
            </a:pPr>
            <a:r>
              <a:rPr sz="2100" b="0">
                <a:solidFill>
                  <a:srgbClr val="23363A"/>
                </a:solidFill>
                <a:latin typeface="Aptos"/>
              </a:rPr>
              <a:t>- Biblia</a:t>
            </a:r>
          </a:p>
          <a:p>
            <a:pPr>
              <a:spcAft>
                <a:spcPts val="300"/>
              </a:spcAft>
            </a:pPr>
            <a:r>
              <a:rPr sz="2100" b="0">
                <a:solidFill>
                  <a:srgbClr val="23363A"/>
                </a:solidFill>
                <a:latin typeface="Aptos"/>
              </a:rPr>
              <a:t>cea mai tradusă carte</a:t>
            </a:r>
          </a:p>
          <a:p>
            <a:pPr>
              <a:spcAft>
                <a:spcPts val="300"/>
              </a:spcAft>
            </a:pPr>
            <a:r>
              <a:rPr sz="2100" b="0">
                <a:solidFill>
                  <a:srgbClr val="23363A"/>
                </a:solidFill>
                <a:latin typeface="Aptos"/>
              </a:rPr>
              <a:t>- fără roade ??!!</a:t>
            </a:r>
          </a:p>
          <a:p>
            <a:pPr>
              <a:spcAft>
                <a:spcPts val="300"/>
              </a:spcAft>
            </a:pPr>
            <a:r>
              <a:rPr sz="2100" b="0">
                <a:solidFill>
                  <a:srgbClr val="23363A"/>
                </a:solidFill>
                <a:latin typeface="Aptos"/>
              </a:rPr>
              <a:t>Încercare de răspuns: Pilda semănătorului</a:t>
            </a:r>
          </a:p>
          <a:p>
            <a:pPr>
              <a:spcAft>
                <a:spcPts val="300"/>
              </a:spcAft>
            </a:pPr>
            <a:r>
              <a:rPr sz="2100" b="0">
                <a:solidFill>
                  <a:srgbClr val="23363A"/>
                </a:solidFill>
                <a:latin typeface="Aptos"/>
              </a:rPr>
              <a:t>(Lc 8,5-15)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702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438912"/>
            <a:ext cx="484632" cy="36576"/>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73952"/>
            <a:ext cx="10789920" cy="1463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914400"/>
            <a:ext cx="10789920" cy="1078992"/>
          </a:xfrm>
          <a:prstGeom prst="rect">
            <a:avLst/>
          </a:prstGeom>
          <a:noFill/>
        </p:spPr>
        <p:txBody>
          <a:bodyPr wrap="square" lIns="22860" tIns="9144" rIns="22860" bIns="0">
            <a:spAutoFit/>
          </a:bodyPr>
          <a:lstStyle/>
          <a:p>
            <a:pPr>
              <a:spcAft>
                <a:spcPts val="300"/>
              </a:spcAft>
            </a:pPr>
            <a:r>
              <a:rPr sz="3200" b="1">
                <a:solidFill>
                  <a:srgbClr val="23363A"/>
                </a:solidFill>
                <a:latin typeface="Georgia"/>
              </a:rPr>
              <a:t>b. Cauzele nerodirii cuvântului</a:t>
            </a:r>
          </a:p>
        </p:txBody>
      </p:sp>
      <p:sp>
        <p:nvSpPr>
          <p:cNvPr id="7" name="Rectangle 6"/>
          <p:cNvSpPr/>
          <p:nvPr/>
        </p:nvSpPr>
        <p:spPr>
          <a:xfrm>
            <a:off x="786384" y="2002536"/>
            <a:ext cx="1005840" cy="32004"/>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258568"/>
            <a:ext cx="10744200" cy="3639312"/>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258568"/>
            <a:ext cx="64008" cy="3639312"/>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606040"/>
            <a:ext cx="10021824" cy="3227832"/>
          </a:xfrm>
          <a:prstGeom prst="rect">
            <a:avLst/>
          </a:prstGeom>
          <a:noFill/>
        </p:spPr>
        <p:txBody>
          <a:bodyPr wrap="square" lIns="22860" tIns="9144" rIns="22860" bIns="0">
            <a:spAutoFit/>
          </a:bodyPr>
          <a:lstStyle/>
          <a:p>
            <a:pPr>
              <a:spcAft>
                <a:spcPts val="300"/>
              </a:spcAft>
            </a:pPr>
            <a:r>
              <a:rPr sz="1700" b="0">
                <a:solidFill>
                  <a:srgbClr val="23363A"/>
                </a:solidFill>
                <a:latin typeface="Aptos"/>
              </a:rPr>
              <a:t>- Abordarea acestuia cu necredință</a:t>
            </a:r>
          </a:p>
          <a:p>
            <a:pPr>
              <a:spcAft>
                <a:spcPts val="300"/>
              </a:spcAft>
            </a:pPr>
            <a:r>
              <a:rPr sz="1700" b="0">
                <a:solidFill>
                  <a:srgbClr val="23363A"/>
                </a:solidFill>
                <a:latin typeface="Aptos"/>
              </a:rPr>
              <a:t>- Iisus în Nazaret</a:t>
            </a:r>
          </a:p>
          <a:p>
            <a:pPr>
              <a:spcAft>
                <a:spcPts val="300"/>
              </a:spcAft>
            </a:pPr>
            <a:r>
              <a:rPr sz="1700" b="0">
                <a:solidFill>
                  <a:srgbClr val="23363A"/>
                </a:solidFill>
                <a:latin typeface="Aptos"/>
              </a:rPr>
              <a:t>”Şi venind în patria Sa îi  învăţa pe ei în sinagoga lor, încât ei erau uimiţi şi ziceau: De unde are El înţelepciunea aceasta şi puterile? Oare nu este acesta fiul teslarului? Au nu se numeşte mama sa Maria şi fraţii Săi Iacob şi Iosif şi Simon şi Iuda şi surorile lui oare nu sunt toate la noi? Deci, de unde are El toate acestea?...  Şi se poticneau întru El... Şi n-a făcut acolo multe minuni, din pricina necredinţei lor” (Mt. 13. 54-58).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702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438912"/>
            <a:ext cx="484632" cy="36576"/>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73952"/>
            <a:ext cx="10789920" cy="1463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17320"/>
            <a:ext cx="10744200" cy="448056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17320"/>
            <a:ext cx="64008" cy="448056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764792"/>
            <a:ext cx="10021824" cy="4069080"/>
          </a:xfrm>
          <a:prstGeom prst="rect">
            <a:avLst/>
          </a:prstGeom>
          <a:noFill/>
        </p:spPr>
        <p:txBody>
          <a:bodyPr wrap="square" lIns="22860" tIns="9144" rIns="22860" bIns="0">
            <a:spAutoFit/>
          </a:bodyPr>
          <a:lstStyle/>
          <a:p>
            <a:pPr>
              <a:spcAft>
                <a:spcPts val="300"/>
              </a:spcAft>
            </a:pPr>
            <a:r>
              <a:rPr sz="2700" b="0">
                <a:solidFill>
                  <a:srgbClr val="23363A"/>
                </a:solidFill>
                <a:latin typeface="Georgia"/>
              </a:rPr>
              <a:t>I Tes. 2,15</a:t>
            </a:r>
          </a:p>
          <a:p>
            <a:pPr>
              <a:spcAft>
                <a:spcPts val="300"/>
              </a:spcAft>
            </a:pPr>
            <a:r>
              <a:rPr sz="2700" b="0">
                <a:solidFill>
                  <a:srgbClr val="23363A"/>
                </a:solidFill>
                <a:latin typeface="Georgia"/>
              </a:rPr>
              <a:t>”Cuvântul lui Dumnezeu lucrează ( ˜nergeita… ) în voi, cei ce credeţi (™n Ømin to‹j pisteÚonsin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702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438912"/>
            <a:ext cx="484632" cy="36576"/>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73952"/>
            <a:ext cx="10789920" cy="1463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17320"/>
            <a:ext cx="10744200" cy="448056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17320"/>
            <a:ext cx="64008" cy="448056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764792"/>
            <a:ext cx="10021824" cy="4069080"/>
          </a:xfrm>
          <a:prstGeom prst="rect">
            <a:avLst/>
          </a:prstGeom>
          <a:noFill/>
        </p:spPr>
        <p:txBody>
          <a:bodyPr wrap="square" lIns="22860" tIns="9144" rIns="22860" bIns="0">
            <a:spAutoFit/>
          </a:bodyPr>
          <a:lstStyle/>
          <a:p>
            <a:pPr>
              <a:spcAft>
                <a:spcPts val="300"/>
              </a:spcAft>
            </a:pPr>
            <a:r>
              <a:rPr sz="1600" b="0">
                <a:solidFill>
                  <a:srgbClr val="23363A"/>
                </a:solidFill>
                <a:latin typeface="Aptos"/>
              </a:rPr>
              <a:t>- Separarea cuvântului lui Dumnezeu de Euharistie (Liturghie)</a:t>
            </a:r>
          </a:p>
          <a:p>
            <a:pPr>
              <a:spcAft>
                <a:spcPts val="300"/>
              </a:spcAft>
            </a:pPr>
            <a:r>
              <a:rPr sz="1600" b="0">
                <a:solidFill>
                  <a:srgbClr val="23363A"/>
                </a:solidFill>
                <a:latin typeface="Aptos"/>
              </a:rPr>
              <a:t>Fer. Ieronim (sec. 4-5)</a:t>
            </a:r>
          </a:p>
          <a:p>
            <a:pPr>
              <a:spcAft>
                <a:spcPts val="300"/>
              </a:spcAft>
            </a:pPr>
            <a:r>
              <a:rPr sz="1600" b="0">
                <a:solidFill>
                  <a:srgbClr val="23363A"/>
                </a:solidFill>
                <a:latin typeface="Aptos"/>
              </a:rPr>
              <a:t>“Noi mâncăm şi bem trupul şi sângele Său în dumnezeiasca Euharistie, dar şi în lectura Scripturilor”.</a:t>
            </a:r>
          </a:p>
          <a:p>
            <a:pPr>
              <a:spcAft>
                <a:spcPts val="300"/>
              </a:spcAft>
            </a:pPr>
            <a:r>
              <a:rPr sz="1600" b="0">
                <a:solidFill>
                  <a:srgbClr val="23363A"/>
                </a:solidFill>
                <a:latin typeface="Aptos"/>
              </a:rPr>
              <a:t>Origen (sec. 3)</a:t>
            </a:r>
          </a:p>
          <a:p>
            <a:pPr>
              <a:spcAft>
                <a:spcPts val="300"/>
              </a:spcAft>
            </a:pPr>
            <a:r>
              <a:rPr sz="1600" b="0">
                <a:solidFill>
                  <a:srgbClr val="23363A"/>
                </a:solidFill>
                <a:latin typeface="Aptos"/>
              </a:rPr>
              <a:t>“Dacă pentru trupul şi sângele Mântuitorului manifestăm o grijă deosebită ca nu cumva vreo fărâmitură să cadă pe jos şi să o pierdem, atunci aceeaşi grijă datorăm şi faţă de cuvintele lui Hristos din Scriptură, pentru că păcatul este acelaşi în cazul pierderii”.</a:t>
            </a:r>
          </a:p>
          <a:p>
            <a:pPr>
              <a:spcAft>
                <a:spcPts val="300"/>
              </a:spcAft>
            </a:pPr>
            <a:r>
              <a:rPr sz="1600" b="0">
                <a:solidFill>
                  <a:srgbClr val="23363A"/>
                </a:solidFill>
                <a:latin typeface="Aptos"/>
              </a:rPr>
              <a:t>”Hristosul Cuvântului” se descoperă deplin numai în ”Hristosul euharistic”</a:t>
            </a:r>
          </a:p>
          <a:p>
            <a:pPr>
              <a:spcAft>
                <a:spcPts val="300"/>
              </a:spcAft>
            </a:pPr>
            <a:r>
              <a:rPr sz="1600" b="0">
                <a:solidFill>
                  <a:srgbClr val="23363A"/>
                </a:solidFill>
                <a:latin typeface="Aptos"/>
              </a:rPr>
              <a:t>- Descoperirea de la Emaus (Lc.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702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438912"/>
            <a:ext cx="484632" cy="36576"/>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73952"/>
            <a:ext cx="10789920" cy="1463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17320"/>
            <a:ext cx="10744200" cy="448056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17320"/>
            <a:ext cx="64008" cy="448056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764792"/>
            <a:ext cx="10021824" cy="4069080"/>
          </a:xfrm>
          <a:prstGeom prst="rect">
            <a:avLst/>
          </a:prstGeom>
          <a:noFill/>
        </p:spPr>
        <p:txBody>
          <a:bodyPr wrap="square" lIns="22860" tIns="9144" rIns="22860" bIns="0">
            <a:spAutoFit/>
          </a:bodyPr>
          <a:lstStyle/>
          <a:p>
            <a:pPr>
              <a:spcAft>
                <a:spcPts val="300"/>
              </a:spcAft>
            </a:pPr>
            <a:r>
              <a:rPr sz="2100" b="0">
                <a:solidFill>
                  <a:srgbClr val="23363A"/>
                </a:solidFill>
                <a:latin typeface="Aptos"/>
              </a:rPr>
              <a:t>- Neimplicarea vieții personale în cuvânt</a:t>
            </a:r>
          </a:p>
          <a:p>
            <a:pPr>
              <a:spcAft>
                <a:spcPts val="300"/>
              </a:spcAft>
            </a:pPr>
            <a:r>
              <a:rPr sz="2100" b="0">
                <a:solidFill>
                  <a:srgbClr val="23363A"/>
                </a:solidFill>
                <a:latin typeface="Aptos"/>
              </a:rPr>
              <a:t>David și Natan (2 Regi 12, 1-5. 7. 9-10. 12-13)</a:t>
            </a:r>
          </a:p>
          <a:p>
            <a:pPr>
              <a:spcAft>
                <a:spcPts val="300"/>
              </a:spcAft>
            </a:pPr>
            <a:r>
              <a:rPr sz="2100" b="0">
                <a:solidFill>
                  <a:srgbClr val="23363A"/>
                </a:solidFill>
                <a:latin typeface="Aptos"/>
              </a:rPr>
              <a:t>când știa numai = prigonea</a:t>
            </a:r>
          </a:p>
          <a:p>
            <a:pPr>
              <a:spcAft>
                <a:spcPts val="300"/>
              </a:spcAft>
            </a:pPr>
            <a:r>
              <a:rPr sz="2100" b="0">
                <a:solidFill>
                  <a:srgbClr val="23363A"/>
                </a:solidFill>
                <a:latin typeface="Aptos"/>
              </a:rPr>
              <a:t>Saul</a:t>
            </a:r>
          </a:p>
          <a:p>
            <a:pPr>
              <a:spcAft>
                <a:spcPts val="300"/>
              </a:spcAft>
            </a:pPr>
            <a:r>
              <a:rPr sz="2100" b="0">
                <a:solidFill>
                  <a:srgbClr val="23363A"/>
                </a:solidFill>
                <a:latin typeface="Aptos"/>
              </a:rPr>
              <a:t>când l-a trăit pe Iisus = exclamă:  ”De acum nu mai trăiesc eu, ci Hristos trăieşte în mine” (Gal. 2,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702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438912"/>
            <a:ext cx="484632" cy="36576"/>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73952"/>
            <a:ext cx="10789920" cy="1463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114800" y="1554480"/>
            <a:ext cx="3931920" cy="3931920"/>
          </a:xfrm>
          <a:prstGeom prst="ellipse">
            <a:avLst/>
          </a:prstGeom>
          <a:solidFill>
            <a:srgbClr val="E8D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4636008" y="2075688"/>
            <a:ext cx="2889504" cy="2889504"/>
          </a:xfrm>
          <a:prstGeom prst="ellipse">
            <a:avLst/>
          </a:prstGeom>
          <a:solidFill>
            <a:srgbClr val="FFFCF7"/>
          </a:solidFill>
          <a:ln>
            <a:solidFill>
              <a:srgbClr val="B894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349240" y="2788920"/>
            <a:ext cx="1463040" cy="1463040"/>
          </a:xfrm>
          <a:prstGeom prst="ellipse">
            <a:avLst/>
          </a:prstGeom>
          <a:solidFill>
            <a:srgbClr val="702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77256" y="3246120"/>
            <a:ext cx="1207008" cy="521207"/>
          </a:xfrm>
          <a:prstGeom prst="rect">
            <a:avLst/>
          </a:prstGeom>
          <a:noFill/>
        </p:spPr>
        <p:txBody>
          <a:bodyPr wrap="square" lIns="22860" tIns="9144" rIns="22860" bIns="0">
            <a:spAutoFit/>
          </a:bodyPr>
          <a:lstStyle/>
          <a:p>
            <a:pPr algn="ctr">
              <a:spcAft>
                <a:spcPts val="300"/>
              </a:spcAft>
            </a:pPr>
            <a:r>
              <a:rPr sz="2900" b="1">
                <a:solidFill>
                  <a:srgbClr val="FFFCF7"/>
                </a:solidFill>
                <a:latin typeface="Georgia"/>
              </a:rPr>
              <a:t>EU</a:t>
            </a:r>
          </a:p>
        </p:txBody>
      </p:sp>
      <p:sp>
        <p:nvSpPr>
          <p:cNvPr id="10" name="TextBox 9"/>
          <p:cNvSpPr txBox="1"/>
          <p:nvPr/>
        </p:nvSpPr>
        <p:spPr>
          <a:xfrm>
            <a:off x="8503920" y="2633472"/>
            <a:ext cx="2788920" cy="548640"/>
          </a:xfrm>
          <a:prstGeom prst="rect">
            <a:avLst/>
          </a:prstGeom>
          <a:noFill/>
        </p:spPr>
        <p:txBody>
          <a:bodyPr wrap="square" lIns="22860" tIns="9144" rIns="22860" bIns="0">
            <a:spAutoFit/>
          </a:bodyPr>
          <a:lstStyle/>
          <a:p>
            <a:pPr>
              <a:spcAft>
                <a:spcPts val="300"/>
              </a:spcAft>
            </a:pPr>
            <a:r>
              <a:rPr sz="2500" b="1">
                <a:solidFill>
                  <a:srgbClr val="702C3E"/>
                </a:solidFill>
                <a:latin typeface="Georgia"/>
              </a:rPr>
              <a:t>Biblia</a:t>
            </a:r>
          </a:p>
        </p:txBody>
      </p:sp>
      <p:sp>
        <p:nvSpPr>
          <p:cNvPr id="11" name="TextBox 10"/>
          <p:cNvSpPr txBox="1"/>
          <p:nvPr/>
        </p:nvSpPr>
        <p:spPr>
          <a:xfrm>
            <a:off x="8503920" y="3493008"/>
            <a:ext cx="2788920" cy="548640"/>
          </a:xfrm>
          <a:prstGeom prst="rect">
            <a:avLst/>
          </a:prstGeom>
          <a:noFill/>
        </p:spPr>
        <p:txBody>
          <a:bodyPr wrap="square" lIns="22860" tIns="9144" rIns="22860" bIns="0">
            <a:spAutoFit/>
          </a:bodyPr>
          <a:lstStyle/>
          <a:p>
            <a:pPr>
              <a:spcAft>
                <a:spcPts val="300"/>
              </a:spcAft>
            </a:pPr>
            <a:r>
              <a:rPr sz="2500" b="1">
                <a:solidFill>
                  <a:srgbClr val="702C3E"/>
                </a:solidFill>
                <a:latin typeface="Georgia"/>
              </a:rPr>
              <a:t>Biblia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702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438912"/>
            <a:ext cx="484632" cy="36576"/>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73952"/>
            <a:ext cx="10789920" cy="1463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114800" y="1554480"/>
            <a:ext cx="3931920" cy="3931920"/>
          </a:xfrm>
          <a:prstGeom prst="ellipse">
            <a:avLst/>
          </a:prstGeom>
          <a:solidFill>
            <a:srgbClr val="E8D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4636008" y="2075688"/>
            <a:ext cx="2889504" cy="2889504"/>
          </a:xfrm>
          <a:prstGeom prst="ellipse">
            <a:avLst/>
          </a:prstGeom>
          <a:solidFill>
            <a:srgbClr val="FFFCF7"/>
          </a:solidFill>
          <a:ln>
            <a:solidFill>
              <a:srgbClr val="B894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349240" y="2788920"/>
            <a:ext cx="1463040" cy="1463040"/>
          </a:xfrm>
          <a:prstGeom prst="ellipse">
            <a:avLst/>
          </a:prstGeom>
          <a:solidFill>
            <a:srgbClr val="702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77256" y="3246120"/>
            <a:ext cx="1207008" cy="521207"/>
          </a:xfrm>
          <a:prstGeom prst="rect">
            <a:avLst/>
          </a:prstGeom>
          <a:noFill/>
        </p:spPr>
        <p:txBody>
          <a:bodyPr wrap="square" lIns="22860" tIns="9144" rIns="22860" bIns="0">
            <a:spAutoFit/>
          </a:bodyPr>
          <a:lstStyle/>
          <a:p>
            <a:pPr algn="ctr">
              <a:spcAft>
                <a:spcPts val="300"/>
              </a:spcAft>
            </a:pPr>
            <a:r>
              <a:rPr sz="2900" b="1">
                <a:solidFill>
                  <a:srgbClr val="FFFCF7"/>
                </a:solidFill>
                <a:latin typeface="Georgia"/>
              </a:rPr>
              <a:t>Biblia</a:t>
            </a:r>
          </a:p>
        </p:txBody>
      </p:sp>
      <p:sp>
        <p:nvSpPr>
          <p:cNvPr id="10" name="TextBox 9"/>
          <p:cNvSpPr txBox="1"/>
          <p:nvPr/>
        </p:nvSpPr>
        <p:spPr>
          <a:xfrm>
            <a:off x="8503920" y="2633472"/>
            <a:ext cx="2788920" cy="548640"/>
          </a:xfrm>
          <a:prstGeom prst="rect">
            <a:avLst/>
          </a:prstGeom>
          <a:noFill/>
        </p:spPr>
        <p:txBody>
          <a:bodyPr wrap="square" lIns="22860" tIns="9144" rIns="22860" bIns="0">
            <a:spAutoFit/>
          </a:bodyPr>
          <a:lstStyle/>
          <a:p>
            <a:pPr>
              <a:spcAft>
                <a:spcPts val="300"/>
              </a:spcAft>
            </a:pPr>
            <a:r>
              <a:rPr sz="2500" b="1">
                <a:solidFill>
                  <a:srgbClr val="702C3E"/>
                </a:solidFill>
                <a:latin typeface="Georgia"/>
              </a:rPr>
              <a:t>EU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3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438912"/>
            <a:ext cx="484632" cy="36576"/>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73952"/>
            <a:ext cx="10789920" cy="1463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17320"/>
            <a:ext cx="10744200" cy="4480560"/>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17320"/>
            <a:ext cx="64008" cy="448056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764792"/>
            <a:ext cx="10021824" cy="4069080"/>
          </a:xfrm>
          <a:prstGeom prst="rect">
            <a:avLst/>
          </a:prstGeom>
          <a:noFill/>
        </p:spPr>
        <p:txBody>
          <a:bodyPr wrap="square" lIns="22860" tIns="9144" rIns="22860" bIns="0">
            <a:spAutoFit/>
          </a:bodyPr>
          <a:lstStyle/>
          <a:p>
            <a:pPr>
              <a:spcAft>
                <a:spcPts val="300"/>
              </a:spcAft>
            </a:pPr>
            <a:r>
              <a:rPr sz="2800" b="0">
                <a:solidFill>
                  <a:srgbClr val="23363A"/>
                </a:solidFill>
                <a:latin typeface="Georgia"/>
              </a:rPr>
              <a:t>”Biblia e singura carte care cere un răspuns !”</a:t>
            </a:r>
          </a:p>
          <a:p>
            <a:pPr>
              <a:spcAft>
                <a:spcPts val="300"/>
              </a:spcAft>
            </a:pPr>
            <a:r>
              <a:rPr sz="2800" b="0">
                <a:solidFill>
                  <a:srgbClr val="23363A"/>
                </a:solidFill>
                <a:latin typeface="Georgia"/>
              </a:rPr>
              <a:t>Ai dat un răspuns?</a:t>
            </a:r>
          </a:p>
          <a:p>
            <a:pPr>
              <a:spcAft>
                <a:spcPts val="300"/>
              </a:spcAft>
            </a:pPr>
            <a:r>
              <a:rPr sz="2800" b="0">
                <a:solidFill>
                  <a:srgbClr val="23363A"/>
                </a:solidFill>
                <a:latin typeface="Georgia"/>
              </a:rPr>
              <a:t>Ai un răspuns?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3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 cy="685800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4088" y="438912"/>
            <a:ext cx="484632" cy="36576"/>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4088" y="6473952"/>
            <a:ext cx="10789920" cy="14630"/>
          </a:xfrm>
          <a:prstGeom prst="rect">
            <a:avLst/>
          </a:prstGeom>
          <a:solidFill>
            <a:srgbClr val="B8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41080" y="0"/>
            <a:ext cx="3547872" cy="6858000"/>
          </a:xfrm>
          <a:prstGeom prst="rect">
            <a:avLst/>
          </a:prstGeom>
          <a:solidFill>
            <a:srgbClr val="702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404872"/>
            <a:ext cx="10332720" cy="1207008"/>
          </a:xfrm>
          <a:prstGeom prst="rect">
            <a:avLst/>
          </a:prstGeom>
          <a:noFill/>
        </p:spPr>
        <p:txBody>
          <a:bodyPr wrap="square" lIns="22860" tIns="9144" rIns="22860" bIns="0">
            <a:spAutoFit/>
          </a:bodyPr>
          <a:lstStyle/>
          <a:p>
            <a:pPr>
              <a:spcAft>
                <a:spcPts val="300"/>
              </a:spcAft>
            </a:pPr>
            <a:r>
              <a:rPr sz="5300" b="0">
                <a:solidFill>
                  <a:srgbClr val="FFFCF7"/>
                </a:solidFill>
                <a:latin typeface="Georgia"/>
              </a:rPr>
              <a:t>Vă   mulțumesc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